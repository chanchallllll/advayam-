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6" r:id="rId3"/>
    <p:sldId id="292" r:id="rId4"/>
    <p:sldId id="293" r:id="rId5"/>
    <p:sldId id="295" r:id="rId6"/>
    <p:sldId id="296" r:id="rId7"/>
    <p:sldId id="294" r:id="rId8"/>
    <p:sldId id="298" r:id="rId9"/>
    <p:sldId id="299" r:id="rId10"/>
    <p:sldId id="300" r:id="rId11"/>
    <p:sldId id="297" r:id="rId12"/>
    <p:sldId id="301" r:id="rId13"/>
    <p:sldId id="302" r:id="rId14"/>
    <p:sldId id="303" r:id="rId15"/>
    <p:sldId id="304" r:id="rId16"/>
    <p:sldId id="305" r:id="rId17"/>
    <p:sldId id="282" r:id="rId18"/>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120" userDrawn="1">
          <p15:clr>
            <a:srgbClr val="A4A3A4"/>
          </p15:clr>
        </p15:guide>
        <p15:guide id="3" pos="5615" userDrawn="1">
          <p15:clr>
            <a:srgbClr val="A4A3A4"/>
          </p15:clr>
        </p15:guide>
        <p15:guide id="4" pos="15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jay Kumar" initials="VK" lastIdx="1" clrIdx="0">
    <p:extLst>
      <p:ext uri="{19B8F6BF-5375-455C-9EA6-DF929625EA0E}">
        <p15:presenceInfo xmlns:p15="http://schemas.microsoft.com/office/powerpoint/2012/main" userId="a04a9914c9f5bc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5209"/>
    <a:srgbClr val="D07F12"/>
    <a:srgbClr val="B57B07"/>
    <a:srgbClr val="DE9708"/>
    <a:srgbClr val="F6A70A"/>
    <a:srgbClr val="D2A000"/>
    <a:srgbClr val="BFBFBF"/>
    <a:srgbClr val="C5E0B4"/>
    <a:srgbClr val="AFABAB"/>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72" autoAdjust="0"/>
    <p:restoredTop sz="96702" autoAdjust="0"/>
  </p:normalViewPr>
  <p:slideViewPr>
    <p:cSldViewPr snapToGrid="0">
      <p:cViewPr varScale="1">
        <p:scale>
          <a:sx n="68" d="100"/>
          <a:sy n="68" d="100"/>
        </p:scale>
        <p:origin x="66" y="864"/>
      </p:cViewPr>
      <p:guideLst>
        <p:guide orient="horz" pos="2137"/>
        <p:guide pos="3120"/>
        <p:guide pos="5615"/>
        <p:guide pos="157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1084424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971733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3962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337303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18557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1926479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3469317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1512444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2228288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2052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ABA0E0-EA14-4633-BA61-6C942366D0D1}" type="datetimeFigureOut">
              <a:rPr lang="en-IN" smtClean="0"/>
              <a:pPr/>
              <a:t>13-08-2026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3081532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ABA0E0-EA14-4633-BA61-6C942366D0D1}" type="datetimeFigureOut">
              <a:rPr lang="en-IN" smtClean="0"/>
              <a:pPr/>
              <a:t>13-08-2026</a:t>
            </a:fld>
            <a:endParaRPr lang="en-IN"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BD2B06-50ED-4854-94B0-426D15F2C123}" type="slidenum">
              <a:rPr lang="en-IN" smtClean="0"/>
              <a:pPr/>
              <a:t>‹#›</a:t>
            </a:fld>
            <a:endParaRPr lang="en-IN" dirty="0"/>
          </a:p>
        </p:txBody>
      </p:sp>
    </p:spTree>
    <p:extLst>
      <p:ext uri="{BB962C8B-B14F-4D97-AF65-F5344CB8AC3E}">
        <p14:creationId xmlns:p14="http://schemas.microsoft.com/office/powerpoint/2010/main" val="1728337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advayamtech.in/" TargetMode="External"/><Relationship Id="rId5" Type="http://schemas.openxmlformats.org/officeDocument/2006/relationships/hyperlink" Target="https://entegurukulam.com/" TargetMode="External"/><Relationship Id="rId4" Type="http://schemas.openxmlformats.org/officeDocument/2006/relationships/hyperlink" Target="https://iot.webyfy.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hyperlink" Target="https://www.advayamtech.in/" TargetMode="Externa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2.png"/><Relationship Id="rId5" Type="http://schemas.openxmlformats.org/officeDocument/2006/relationships/hyperlink" Target="https://iot.webyfy.com/" TargetMode="External"/><Relationship Id="rId4"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81510E68-11AB-41DA-B919-1FB2CC91D345}"/>
              </a:ext>
            </a:extLst>
          </p:cNvPr>
          <p:cNvSpPr>
            <a:spLocks noChangeArrowheads="1"/>
          </p:cNvSpPr>
          <p:nvPr/>
        </p:nvSpPr>
        <p:spPr bwMode="auto">
          <a:xfrm>
            <a:off x="8445704" y="5430400"/>
            <a:ext cx="1306611" cy="79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2564" tIns="21282" rIns="42564" bIns="21282">
            <a:spAutoFit/>
          </a:bodyPr>
          <a:lstStyle/>
          <a:p>
            <a:pPr>
              <a:lnSpc>
                <a:spcPct val="75000"/>
              </a:lnSpc>
              <a:spcBef>
                <a:spcPct val="50000"/>
              </a:spcBef>
            </a:pPr>
            <a:r>
              <a:rPr lang="en-US" sz="853" dirty="0">
                <a:cs typeface="Times New Roman" pitchFamily="18" charset="0"/>
              </a:rPr>
              <a:t>Vijay Kumar M.</a:t>
            </a:r>
          </a:p>
          <a:p>
            <a:pPr>
              <a:lnSpc>
                <a:spcPct val="75000"/>
              </a:lnSpc>
              <a:spcBef>
                <a:spcPct val="50000"/>
              </a:spcBef>
            </a:pPr>
            <a:r>
              <a:rPr lang="en-US" sz="853" dirty="0">
                <a:cs typeface="Times New Roman" pitchFamily="18" charset="0"/>
              </a:rPr>
              <a:t>CEO </a:t>
            </a:r>
          </a:p>
          <a:p>
            <a:pPr>
              <a:lnSpc>
                <a:spcPct val="75000"/>
              </a:lnSpc>
              <a:spcBef>
                <a:spcPct val="50000"/>
              </a:spcBef>
            </a:pPr>
            <a:r>
              <a:rPr lang="en-US" sz="853" dirty="0">
                <a:cs typeface="Times New Roman" pitchFamily="18" charset="0"/>
              </a:rPr>
              <a:t>Webyfy IoT Pvt Ltd</a:t>
            </a:r>
          </a:p>
          <a:p>
            <a:pPr>
              <a:lnSpc>
                <a:spcPct val="75000"/>
              </a:lnSpc>
              <a:spcBef>
                <a:spcPct val="50000"/>
              </a:spcBef>
            </a:pPr>
            <a:r>
              <a:rPr lang="en-US" sz="853" dirty="0">
                <a:cs typeface="Times New Roman" pitchFamily="18" charset="0"/>
              </a:rPr>
              <a:t>Vijay@Webyfy.com, </a:t>
            </a:r>
          </a:p>
          <a:p>
            <a:pPr>
              <a:lnSpc>
                <a:spcPct val="75000"/>
              </a:lnSpc>
              <a:spcBef>
                <a:spcPct val="50000"/>
              </a:spcBef>
            </a:pPr>
            <a:r>
              <a:rPr lang="en-US" sz="853" dirty="0">
                <a:cs typeface="Times New Roman" pitchFamily="18" charset="0"/>
              </a:rPr>
              <a:t>Mob: +91 9847923499 </a:t>
            </a:r>
          </a:p>
        </p:txBody>
      </p:sp>
      <p:pic>
        <p:nvPicPr>
          <p:cNvPr id="9" name="Google Shape;17;p2" descr="C:\Users\vijay\Desktop\Webyfy Master folder\Band\band-with-logo.png">
            <a:extLst>
              <a:ext uri="{FF2B5EF4-FFF2-40B4-BE49-F238E27FC236}">
                <a16:creationId xmlns:a16="http://schemas.microsoft.com/office/drawing/2014/main" id="{C4939A29-558F-44F9-B2B3-6CEBE7C6D593}"/>
              </a:ext>
            </a:extLst>
          </p:cNvPr>
          <p:cNvPicPr preferRelativeResize="0"/>
          <p:nvPr/>
        </p:nvPicPr>
        <p:blipFill rotWithShape="1">
          <a:blip r:embed="rId2">
            <a:alphaModFix/>
          </a:blip>
          <a:srcRect/>
          <a:stretch/>
        </p:blipFill>
        <p:spPr>
          <a:xfrm>
            <a:off x="0" y="0"/>
            <a:ext cx="9906000" cy="716055"/>
          </a:xfrm>
          <a:prstGeom prst="rect">
            <a:avLst/>
          </a:prstGeom>
          <a:noFill/>
          <a:ln>
            <a:noFill/>
          </a:ln>
        </p:spPr>
      </p:pic>
      <p:sp>
        <p:nvSpPr>
          <p:cNvPr id="13" name="Google Shape;88;p13">
            <a:extLst>
              <a:ext uri="{FF2B5EF4-FFF2-40B4-BE49-F238E27FC236}">
                <a16:creationId xmlns:a16="http://schemas.microsoft.com/office/drawing/2014/main" id="{D4BBAE21-0611-45B6-BCE0-848E52F7027D}"/>
              </a:ext>
            </a:extLst>
          </p:cNvPr>
          <p:cNvSpPr txBox="1"/>
          <p:nvPr/>
        </p:nvSpPr>
        <p:spPr>
          <a:xfrm>
            <a:off x="5108162" y="1133344"/>
            <a:ext cx="4334941" cy="3956272"/>
          </a:xfrm>
          <a:prstGeom prst="rect">
            <a:avLst/>
          </a:prstGeom>
          <a:noFill/>
          <a:ln>
            <a:noFill/>
          </a:ln>
        </p:spPr>
        <p:txBody>
          <a:bodyPr spcFirstLastPara="1" wrap="square" lIns="31830" tIns="15905" rIns="31830" bIns="15905" anchor="t" anchorCtr="0">
            <a:spAutoFit/>
          </a:bodyPr>
          <a:lstStyle/>
          <a:p>
            <a:pPr algn="ctr">
              <a:lnSpc>
                <a:spcPct val="150000"/>
              </a:lnSpc>
            </a:pPr>
            <a:r>
              <a:rPr lang="en-IN" dirty="0">
                <a:solidFill>
                  <a:srgbClr val="974806"/>
                </a:solidFill>
                <a:latin typeface="Arial"/>
                <a:ea typeface="Arial"/>
                <a:cs typeface="Arial"/>
                <a:sym typeface="Arial"/>
              </a:rPr>
              <a:t>Webyfy IoT Private Limited</a:t>
            </a:r>
          </a:p>
          <a:p>
            <a:pPr algn="ctr">
              <a:lnSpc>
                <a:spcPct val="150000"/>
              </a:lnSpc>
            </a:pPr>
            <a:r>
              <a:rPr lang="en-IN" sz="2000" b="1" dirty="0">
                <a:solidFill>
                  <a:srgbClr val="366092"/>
                </a:solidFill>
                <a:sym typeface="Arial"/>
              </a:rPr>
              <a:t>Advayam </a:t>
            </a:r>
          </a:p>
          <a:p>
            <a:pPr algn="ctr">
              <a:lnSpc>
                <a:spcPct val="150000"/>
              </a:lnSpc>
            </a:pPr>
            <a:endParaRPr lang="en-IN" sz="2000" b="1" dirty="0">
              <a:solidFill>
                <a:srgbClr val="366092"/>
              </a:solidFill>
              <a:sym typeface="Arial"/>
            </a:endParaRPr>
          </a:p>
          <a:p>
            <a:pPr algn="ctr">
              <a:lnSpc>
                <a:spcPct val="150000"/>
              </a:lnSpc>
            </a:pPr>
            <a:endParaRPr lang="en-IN" sz="2000" b="1" dirty="0">
              <a:solidFill>
                <a:srgbClr val="366092"/>
              </a:solidFill>
              <a:sym typeface="Arial"/>
            </a:endParaRPr>
          </a:p>
          <a:p>
            <a:pPr algn="ctr">
              <a:lnSpc>
                <a:spcPct val="150000"/>
              </a:lnSpc>
            </a:pPr>
            <a:r>
              <a:rPr lang="en-IN" sz="1400" b="1" dirty="0">
                <a:solidFill>
                  <a:srgbClr val="366092"/>
                </a:solidFill>
                <a:sym typeface="Arial"/>
              </a:rPr>
              <a:t>An open Source </a:t>
            </a:r>
          </a:p>
          <a:p>
            <a:pPr algn="ctr">
              <a:lnSpc>
                <a:spcPct val="150000"/>
              </a:lnSpc>
            </a:pPr>
            <a:r>
              <a:rPr lang="en-IN" sz="1400" b="1" dirty="0">
                <a:solidFill>
                  <a:srgbClr val="366092"/>
                </a:solidFill>
                <a:sym typeface="Arial"/>
              </a:rPr>
              <a:t>Hardware and Software Platform</a:t>
            </a:r>
          </a:p>
          <a:p>
            <a:pPr algn="ctr">
              <a:lnSpc>
                <a:spcPct val="150000"/>
              </a:lnSpc>
            </a:pPr>
            <a:endParaRPr lang="en-IN" sz="1400" b="1" dirty="0">
              <a:solidFill>
                <a:srgbClr val="366092"/>
              </a:solidFill>
              <a:sym typeface="Arial"/>
            </a:endParaRPr>
          </a:p>
          <a:p>
            <a:pPr algn="ctr">
              <a:lnSpc>
                <a:spcPct val="150000"/>
              </a:lnSpc>
            </a:pPr>
            <a:r>
              <a:rPr lang="en-IN" sz="1600" dirty="0">
                <a:solidFill>
                  <a:schemeClr val="accent2">
                    <a:lumMod val="50000"/>
                  </a:schemeClr>
                </a:solidFill>
                <a:sym typeface="Arial"/>
              </a:rPr>
              <a:t>Project Proposal </a:t>
            </a:r>
            <a:br>
              <a:rPr lang="en-IN" sz="1600" dirty="0">
                <a:solidFill>
                  <a:schemeClr val="accent2">
                    <a:lumMod val="50000"/>
                  </a:schemeClr>
                </a:solidFill>
                <a:sym typeface="Arial"/>
              </a:rPr>
            </a:br>
            <a:r>
              <a:rPr lang="en-IN" sz="1600" dirty="0">
                <a:solidFill>
                  <a:schemeClr val="accent2">
                    <a:lumMod val="50000"/>
                  </a:schemeClr>
                </a:solidFill>
                <a:sym typeface="Arial"/>
              </a:rPr>
              <a:t>for financial assistance to pursue the </a:t>
            </a:r>
            <a:br>
              <a:rPr lang="en-IN" sz="1600" dirty="0">
                <a:solidFill>
                  <a:schemeClr val="accent2">
                    <a:lumMod val="50000"/>
                  </a:schemeClr>
                </a:solidFill>
                <a:sym typeface="Arial"/>
              </a:rPr>
            </a:br>
            <a:r>
              <a:rPr lang="en-IN" sz="1600" dirty="0">
                <a:solidFill>
                  <a:schemeClr val="accent2">
                    <a:lumMod val="50000"/>
                  </a:schemeClr>
                </a:solidFill>
                <a:sym typeface="Arial"/>
              </a:rPr>
              <a:t>second stage of development and release </a:t>
            </a:r>
          </a:p>
        </p:txBody>
      </p:sp>
      <p:sp>
        <p:nvSpPr>
          <p:cNvPr id="14" name="Google Shape;90;p13">
            <a:extLst>
              <a:ext uri="{FF2B5EF4-FFF2-40B4-BE49-F238E27FC236}">
                <a16:creationId xmlns:a16="http://schemas.microsoft.com/office/drawing/2014/main" id="{15085E5E-13A8-418C-B36B-50DE79014628}"/>
              </a:ext>
            </a:extLst>
          </p:cNvPr>
          <p:cNvSpPr/>
          <p:nvPr/>
        </p:nvSpPr>
        <p:spPr>
          <a:xfrm>
            <a:off x="7815" y="723870"/>
            <a:ext cx="2577108" cy="174129"/>
          </a:xfrm>
          <a:prstGeom prst="rect">
            <a:avLst/>
          </a:prstGeom>
          <a:solidFill>
            <a:srgbClr val="E9EED2"/>
          </a:solidFill>
          <a:ln w="9525" cap="flat" cmpd="sng">
            <a:solidFill>
              <a:srgbClr val="800000"/>
            </a:solidFill>
            <a:prstDash val="solid"/>
            <a:miter lim="800000"/>
            <a:headEnd type="none" w="sm" len="sm"/>
            <a:tailEnd type="none" w="sm" len="sm"/>
          </a:ln>
        </p:spPr>
        <p:txBody>
          <a:bodyPr spcFirstLastPara="1" wrap="square" lIns="42555" tIns="21267" rIns="42555" bIns="21267" anchor="ctr" anchorCtr="0">
            <a:noAutofit/>
          </a:bodyPr>
          <a:lstStyle/>
          <a:p>
            <a:pPr marL="107057" indent="-107057" algn="ctr"/>
            <a:r>
              <a:rPr lang="en-IN" sz="900" i="1" dirty="0">
                <a:solidFill>
                  <a:schemeClr val="dk1"/>
                </a:solidFill>
                <a:latin typeface="Calibri"/>
                <a:ea typeface="Calibri"/>
                <a:cs typeface="Calibri"/>
                <a:sym typeface="Calibri"/>
              </a:rPr>
              <a:t>We Think, Observe and Learn, therefore We Are </a:t>
            </a:r>
            <a:endParaRPr sz="900" dirty="0"/>
          </a:p>
        </p:txBody>
      </p:sp>
      <p:sp>
        <p:nvSpPr>
          <p:cNvPr id="15" name="Google Shape;91;p13">
            <a:extLst>
              <a:ext uri="{FF2B5EF4-FFF2-40B4-BE49-F238E27FC236}">
                <a16:creationId xmlns:a16="http://schemas.microsoft.com/office/drawing/2014/main" id="{00E00E6A-3490-4C01-8A2E-1111057ACE94}"/>
              </a:ext>
            </a:extLst>
          </p:cNvPr>
          <p:cNvSpPr/>
          <p:nvPr/>
        </p:nvSpPr>
        <p:spPr>
          <a:xfrm>
            <a:off x="5791201" y="6568923"/>
            <a:ext cx="4099169" cy="273447"/>
          </a:xfrm>
          <a:prstGeom prst="rect">
            <a:avLst/>
          </a:prstGeom>
          <a:solidFill>
            <a:srgbClr val="E9EED2"/>
          </a:solidFill>
          <a:ln w="9525" cap="flat" cmpd="sng">
            <a:solidFill>
              <a:srgbClr val="800000"/>
            </a:solidFill>
            <a:prstDash val="solid"/>
            <a:miter lim="800000"/>
            <a:headEnd type="none" w="sm" len="sm"/>
            <a:tailEnd type="none" w="sm" len="sm"/>
          </a:ln>
        </p:spPr>
        <p:txBody>
          <a:bodyPr spcFirstLastPara="1" wrap="square" lIns="42555" tIns="21267" rIns="42555" bIns="21267" anchor="ctr" anchorCtr="0">
            <a:noAutofit/>
          </a:bodyPr>
          <a:lstStyle/>
          <a:p>
            <a:pPr marL="107057" indent="-107057" algn="ctr"/>
            <a:r>
              <a:rPr lang="en-IN" sz="900" i="1" dirty="0">
                <a:solidFill>
                  <a:schemeClr val="dk1"/>
                </a:solidFill>
                <a:latin typeface="Calibri"/>
                <a:ea typeface="Calibri"/>
                <a:cs typeface="Calibri"/>
                <a:sym typeface="Calibri"/>
              </a:rPr>
              <a:t>Our Products &amp; Applications –</a:t>
            </a:r>
            <a:endParaRPr sz="900" dirty="0"/>
          </a:p>
          <a:p>
            <a:pPr marL="107057" indent="-107057" algn="ctr"/>
            <a:r>
              <a:rPr lang="en-IN" sz="900" i="1" dirty="0">
                <a:solidFill>
                  <a:schemeClr val="dk1"/>
                </a:solidFill>
                <a:latin typeface="Calibri"/>
                <a:ea typeface="Calibri"/>
                <a:cs typeface="Calibri"/>
                <a:sym typeface="Calibri"/>
              </a:rPr>
              <a:t> </a:t>
            </a:r>
            <a:r>
              <a:rPr lang="en-IN" sz="900" i="1" dirty="0">
                <a:solidFill>
                  <a:srgbClr val="A50021"/>
                </a:solidFill>
                <a:latin typeface="Calibri"/>
                <a:ea typeface="Calibri"/>
                <a:cs typeface="Calibri"/>
                <a:sym typeface="Calibri"/>
              </a:rPr>
              <a:t>Idea</a:t>
            </a:r>
            <a:r>
              <a:rPr lang="en-IN" sz="900" i="1" dirty="0">
                <a:solidFill>
                  <a:schemeClr val="dk1"/>
                </a:solidFill>
                <a:latin typeface="Calibri"/>
                <a:ea typeface="Calibri"/>
                <a:cs typeface="Calibri"/>
                <a:sym typeface="Calibri"/>
              </a:rPr>
              <a:t> Nurtured with Knowledge, Developed with Technology and Realized by People</a:t>
            </a:r>
            <a:endParaRPr sz="900" dirty="0"/>
          </a:p>
        </p:txBody>
      </p:sp>
      <p:pic>
        <p:nvPicPr>
          <p:cNvPr id="16" name="Google Shape;92;p13">
            <a:extLst>
              <a:ext uri="{FF2B5EF4-FFF2-40B4-BE49-F238E27FC236}">
                <a16:creationId xmlns:a16="http://schemas.microsoft.com/office/drawing/2014/main" id="{B312E0FC-95CB-4B8F-BA66-8350FDDB5D64}"/>
              </a:ext>
            </a:extLst>
          </p:cNvPr>
          <p:cNvPicPr preferRelativeResize="0"/>
          <p:nvPr/>
        </p:nvPicPr>
        <p:blipFill rotWithShape="1">
          <a:blip r:embed="rId3">
            <a:alphaModFix/>
          </a:blip>
          <a:srcRect/>
          <a:stretch/>
        </p:blipFill>
        <p:spPr>
          <a:xfrm>
            <a:off x="175419" y="2321169"/>
            <a:ext cx="4209012" cy="2940699"/>
          </a:xfrm>
          <a:prstGeom prst="rect">
            <a:avLst/>
          </a:prstGeom>
          <a:noFill/>
          <a:ln>
            <a:noFill/>
          </a:ln>
        </p:spPr>
      </p:pic>
      <p:pic>
        <p:nvPicPr>
          <p:cNvPr id="11" name="Picture 10"/>
          <p:cNvPicPr>
            <a:picLocks noChangeAspect="1"/>
          </p:cNvPicPr>
          <p:nvPr/>
        </p:nvPicPr>
        <p:blipFill>
          <a:blip r:embed="rId4">
            <a:duotone>
              <a:schemeClr val="accent2">
                <a:shade val="45000"/>
                <a:satMod val="135000"/>
              </a:schemeClr>
              <a:prstClr val="white"/>
            </a:duotone>
          </a:blip>
          <a:stretch>
            <a:fillRect/>
          </a:stretch>
        </p:blipFill>
        <p:spPr>
          <a:xfrm>
            <a:off x="6571138" y="2096257"/>
            <a:ext cx="1408988" cy="859483"/>
          </a:xfrm>
          <a:prstGeom prst="rect">
            <a:avLst/>
          </a:prstGeom>
        </p:spPr>
      </p:pic>
    </p:spTree>
    <p:extLst>
      <p:ext uri="{BB962C8B-B14F-4D97-AF65-F5344CB8AC3E}">
        <p14:creationId xmlns:p14="http://schemas.microsoft.com/office/powerpoint/2010/main" val="4042227794"/>
      </p:ext>
    </p:extLst>
  </p:cSld>
  <p:clrMapOvr>
    <a:masterClrMapping/>
  </p:clrMapOvr>
  <mc:AlternateContent xmlns:mc="http://schemas.openxmlformats.org/markup-compatibility/2006">
    <mc:Choice xmlns:p14="http://schemas.microsoft.com/office/powerpoint/2010/main" Requires="p14">
      <p:transition p14:dur="100" advClick="0">
        <p:cut/>
      </p:transition>
    </mc:Choice>
    <mc:Fallback>
      <p:transition advClick="0">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14C472-CA36-28E7-DB64-7DC07CE1281E}"/>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7" name="Picture 4" descr="Efforts are being exerted to efface unique identity of Bharat, but why?">
            <a:extLst>
              <a:ext uri="{FF2B5EF4-FFF2-40B4-BE49-F238E27FC236}">
                <a16:creationId xmlns:a16="http://schemas.microsoft.com/office/drawing/2014/main" id="{FE9E2660-B443-115D-2FDD-34ADABD0AB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C232FAC4-7E17-BD0A-6147-E8BE7C493FFF}"/>
              </a:ext>
            </a:extLst>
          </p:cNvPr>
          <p:cNvSpPr/>
          <p:nvPr/>
        </p:nvSpPr>
        <p:spPr>
          <a:xfrm>
            <a:off x="2241494" y="-56319"/>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9D04C78F-EE25-B69A-07FC-F3DA877CEF8B}"/>
              </a:ext>
            </a:extLst>
          </p:cNvPr>
          <p:cNvSpPr txBox="1"/>
          <p:nvPr/>
        </p:nvSpPr>
        <p:spPr>
          <a:xfrm>
            <a:off x="2333065" y="726986"/>
            <a:ext cx="7070912" cy="5968557"/>
          </a:xfrm>
          <a:prstGeom prst="rect">
            <a:avLst/>
          </a:prstGeom>
          <a:noFill/>
        </p:spPr>
        <p:txBody>
          <a:bodyPr wrap="square">
            <a:spAutoFit/>
          </a:bodyPr>
          <a:lstStyle/>
          <a:p>
            <a:pPr algn="just">
              <a:lnSpc>
                <a:spcPct val="115000"/>
              </a:lnSpc>
              <a:spcAft>
                <a:spcPts val="1000"/>
              </a:spcAft>
              <a:buNone/>
            </a:pPr>
            <a:r>
              <a:rPr lang="en-US" sz="1600" dirty="0">
                <a:effectLst/>
                <a:latin typeface="Calibri" panose="020F0502020204030204" pitchFamily="34" charset="0"/>
                <a:ea typeface="SimSun" panose="02010600030101010101" pitchFamily="2" charset="-122"/>
                <a:cs typeface="Times New Roman" panose="02020603050405020304" pitchFamily="18" charset="0"/>
              </a:rPr>
              <a:t>Webyfy IoT Pvt. Ltd. is an application technology R&amp;D company based in Kerala, India, focused on developing scalable platforms for IoT, education technology, and embedded systems. </a:t>
            </a:r>
          </a:p>
          <a:p>
            <a:pPr algn="just">
              <a:lnSpc>
                <a:spcPct val="115000"/>
              </a:lnSpc>
              <a:spcAft>
                <a:spcPts val="1000"/>
              </a:spcAft>
              <a:buNone/>
            </a:pPr>
            <a:r>
              <a:rPr lang="en-US" sz="1600" dirty="0">
                <a:latin typeface="Calibri" panose="020F0502020204030204" pitchFamily="34" charset="0"/>
                <a:ea typeface="SimSun" panose="02010600030101010101" pitchFamily="2" charset="-122"/>
                <a:cs typeface="Times New Roman" panose="02020603050405020304" pitchFamily="18" charset="0"/>
              </a:rPr>
              <a:t>It has created three streams of interconnected technologies</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buNone/>
            </a:pPr>
            <a:r>
              <a:rPr lang="en-US" sz="1600" b="1" dirty="0">
                <a:effectLst/>
                <a:latin typeface="Calibri" panose="020F0502020204030204" pitchFamily="34" charset="0"/>
                <a:ea typeface="SimSun" panose="02010600030101010101" pitchFamily="2" charset="-122"/>
                <a:cs typeface="Times New Roman" panose="02020603050405020304" pitchFamily="18" charset="0"/>
              </a:rPr>
              <a:t>REACH</a:t>
            </a:r>
            <a:r>
              <a:rPr lang="en-US" sz="1600" dirty="0">
                <a:effectLst/>
                <a:latin typeface="Calibri" panose="020F0502020204030204" pitchFamily="34" charset="0"/>
                <a:ea typeface="SimSun" panose="02010600030101010101" pitchFamily="2" charset="-122"/>
                <a:cs typeface="Times New Roman" panose="02020603050405020304" pitchFamily="18" charset="0"/>
              </a:rPr>
              <a:t> is </a:t>
            </a:r>
            <a:r>
              <a:rPr lang="en-US" sz="1600" dirty="0" err="1">
                <a:effectLst/>
                <a:latin typeface="Calibri" panose="020F0502020204030204" pitchFamily="34" charset="0"/>
                <a:ea typeface="SimSun" panose="02010600030101010101" pitchFamily="2" charset="-122"/>
                <a:cs typeface="Times New Roman" panose="02020603050405020304" pitchFamily="18" charset="0"/>
              </a:rPr>
              <a:t>Webyfy’s</a:t>
            </a:r>
            <a:r>
              <a:rPr lang="en-US" sz="1600" dirty="0">
                <a:effectLst/>
                <a:latin typeface="Calibri" panose="020F0502020204030204" pitchFamily="34" charset="0"/>
                <a:ea typeface="SimSun" panose="02010600030101010101" pitchFamily="2" charset="-122"/>
                <a:cs typeface="Times New Roman" panose="02020603050405020304" pitchFamily="18" charset="0"/>
              </a:rPr>
              <a:t> modular IoT technology framework, comprising hardware and software components that can be configured like LEGO blocks to rapidly create scalable IoT solutions across multiple domains. Its intelligent configuration and rule engines define solution architecture and behaviour, integrating sensors, actuators, external data, and audio-visual systems. </a:t>
            </a:r>
            <a:r>
              <a:rPr lang="en-US" sz="1600" u="sng" dirty="0">
                <a:solidFill>
                  <a:srgbClr val="0000FF"/>
                </a:solidFill>
                <a:effectLst/>
                <a:latin typeface="Calibri" panose="020F0502020204030204" pitchFamily="34" charset="0"/>
                <a:ea typeface="SimSun" panose="02010600030101010101" pitchFamily="2" charset="-122"/>
                <a:cs typeface="Times New Roman" panose="02020603050405020304" pitchFamily="18" charset="0"/>
                <a:hlinkClick r:id="rId4"/>
              </a:rPr>
              <a:t>https://iot.webyfy.com/</a:t>
            </a:r>
            <a:r>
              <a:rPr lang="en-US" sz="1600" dirty="0">
                <a:effectLst/>
                <a:latin typeface="Calibri" panose="020F0502020204030204" pitchFamily="34" charset="0"/>
                <a:ea typeface="SimSun" panose="02010600030101010101" pitchFamily="2" charset="-122"/>
                <a:cs typeface="Times New Roman" panose="02020603050405020304" pitchFamily="18" charset="0"/>
              </a:rPr>
              <a:t> </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buNone/>
            </a:pPr>
            <a:r>
              <a:rPr lang="en-US" sz="1600" b="1" dirty="0">
                <a:effectLst/>
                <a:latin typeface="Calibri" panose="020F0502020204030204" pitchFamily="34" charset="0"/>
                <a:ea typeface="SimSun" panose="02010600030101010101" pitchFamily="2" charset="-122"/>
                <a:cs typeface="Times New Roman" panose="02020603050405020304" pitchFamily="18" charset="0"/>
              </a:rPr>
              <a:t>eGurukulam</a:t>
            </a:r>
            <a:r>
              <a:rPr lang="en-US" sz="1600" dirty="0">
                <a:effectLst/>
                <a:latin typeface="Calibri" panose="020F0502020204030204" pitchFamily="34" charset="0"/>
                <a:ea typeface="SimSun" panose="02010600030101010101" pitchFamily="2" charset="-122"/>
                <a:cs typeface="Times New Roman" panose="02020603050405020304" pitchFamily="18" charset="0"/>
              </a:rPr>
              <a:t> is an </a:t>
            </a:r>
            <a:r>
              <a:rPr lang="en-US" sz="1600" dirty="0" err="1">
                <a:effectLst/>
                <a:latin typeface="Calibri" panose="020F0502020204030204" pitchFamily="34" charset="0"/>
                <a:ea typeface="SimSun" panose="02010600030101010101" pitchFamily="2" charset="-122"/>
                <a:cs typeface="Times New Roman" panose="02020603050405020304" pitchFamily="18" charset="0"/>
              </a:rPr>
              <a:t>IEoT</a:t>
            </a:r>
            <a:r>
              <a:rPr lang="en-US" sz="1600" dirty="0">
                <a:effectLst/>
                <a:latin typeface="Calibri" panose="020F0502020204030204" pitchFamily="34" charset="0"/>
                <a:ea typeface="SimSun" panose="02010600030101010101" pitchFamily="2" charset="-122"/>
                <a:cs typeface="Times New Roman" panose="02020603050405020304" pitchFamily="18" charset="0"/>
              </a:rPr>
              <a:t> (Internet of Education Things) platform combining learning management and delivery in an offline-first architecture. It supports smart classrooms, teacher and student portals, learning delivery and assessment, and networking of thousands of geographically distributed classrooms.</a:t>
            </a:r>
            <a:br>
              <a:rPr lang="en-US" sz="1600" dirty="0">
                <a:effectLst/>
                <a:latin typeface="Calibri" panose="020F0502020204030204" pitchFamily="34" charset="0"/>
                <a:ea typeface="SimSun" panose="02010600030101010101" pitchFamily="2" charset="-122"/>
                <a:cs typeface="Times New Roman" panose="02020603050405020304" pitchFamily="18" charset="0"/>
              </a:rPr>
            </a:br>
            <a:r>
              <a:rPr lang="en-US" sz="1600" u="sng" dirty="0">
                <a:solidFill>
                  <a:srgbClr val="0000FF"/>
                </a:solidFill>
                <a:effectLst/>
                <a:latin typeface="Calibri" panose="020F0502020204030204" pitchFamily="34" charset="0"/>
                <a:ea typeface="SimSun" panose="02010600030101010101" pitchFamily="2" charset="-122"/>
                <a:cs typeface="Times New Roman" panose="02020603050405020304" pitchFamily="18" charset="0"/>
                <a:hlinkClick r:id="rId5"/>
              </a:rPr>
              <a:t>https://entegurukulam.com/</a:t>
            </a:r>
            <a:r>
              <a:rPr lang="en-US" sz="1600" dirty="0">
                <a:effectLst/>
                <a:latin typeface="Calibri" panose="020F0502020204030204" pitchFamily="34" charset="0"/>
                <a:ea typeface="SimSun" panose="02010600030101010101" pitchFamily="2" charset="-122"/>
                <a:cs typeface="Times New Roman" panose="02020603050405020304" pitchFamily="18" charset="0"/>
              </a:rPr>
              <a:t>  </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a:p>
            <a:pPr algn="just">
              <a:lnSpc>
                <a:spcPct val="115000"/>
              </a:lnSpc>
              <a:spcAft>
                <a:spcPts val="1000"/>
              </a:spcAft>
              <a:buNone/>
            </a:pPr>
            <a:r>
              <a:rPr lang="en-US" sz="1600" b="1" dirty="0">
                <a:effectLst/>
                <a:latin typeface="Calibri" panose="020F0502020204030204" pitchFamily="34" charset="0"/>
                <a:ea typeface="SimSun" panose="02010600030101010101" pitchFamily="2" charset="-122"/>
                <a:cs typeface="Times New Roman" panose="02020603050405020304" pitchFamily="18" charset="0"/>
              </a:rPr>
              <a:t>Advayam </a:t>
            </a:r>
            <a:r>
              <a:rPr lang="en-US" sz="1600" dirty="0">
                <a:effectLst/>
                <a:latin typeface="Calibri" panose="020F0502020204030204" pitchFamily="34" charset="0"/>
                <a:ea typeface="SimSun" panose="02010600030101010101" pitchFamily="2" charset="-122"/>
                <a:cs typeface="Times New Roman" panose="02020603050405020304" pitchFamily="18" charset="0"/>
              </a:rPr>
              <a:t>is an open embedded development platform designed as an Arduino-compatible alternative, using indigenous microcontroller technology. It supports C, C++, Arduino, Rust, </a:t>
            </a:r>
            <a:r>
              <a:rPr lang="en-US" sz="1600" dirty="0" err="1">
                <a:effectLst/>
                <a:latin typeface="Calibri" panose="020F0502020204030204" pitchFamily="34" charset="0"/>
                <a:ea typeface="SimSun" panose="02010600030101010101" pitchFamily="2" charset="-122"/>
                <a:cs typeface="Times New Roman" panose="02020603050405020304" pitchFamily="18" charset="0"/>
              </a:rPr>
              <a:t>MicroPython</a:t>
            </a:r>
            <a:r>
              <a:rPr lang="en-US" sz="1600" dirty="0">
                <a:effectLst/>
                <a:latin typeface="Calibri" panose="020F0502020204030204" pitchFamily="34" charset="0"/>
                <a:ea typeface="SimSun" panose="02010600030101010101" pitchFamily="2" charset="-122"/>
                <a:cs typeface="Times New Roman" panose="02020603050405020304" pitchFamily="18" charset="0"/>
              </a:rPr>
              <a:t>, </a:t>
            </a:r>
            <a:r>
              <a:rPr lang="en-US" sz="1600" dirty="0" err="1">
                <a:effectLst/>
                <a:latin typeface="Calibri" panose="020F0502020204030204" pitchFamily="34" charset="0"/>
                <a:ea typeface="SimSun" panose="02010600030101010101" pitchFamily="2" charset="-122"/>
                <a:cs typeface="Times New Roman" panose="02020603050405020304" pitchFamily="18" charset="0"/>
              </a:rPr>
              <a:t>FreeRTOS</a:t>
            </a:r>
            <a:r>
              <a:rPr lang="en-US" sz="1600" dirty="0">
                <a:effectLst/>
                <a:latin typeface="Calibri" panose="020F0502020204030204" pitchFamily="34" charset="0"/>
                <a:ea typeface="SimSun" panose="02010600030101010101" pitchFamily="2" charset="-122"/>
                <a:cs typeface="Times New Roman" panose="02020603050405020304" pitchFamily="18" charset="0"/>
              </a:rPr>
              <a:t>, and Zephyr RTOS on the same hardware, with modular boards and HATs for experimentation and rapid prototyping. </a:t>
            </a:r>
            <a:r>
              <a:rPr lang="en-US" sz="1600" u="sng" dirty="0">
                <a:solidFill>
                  <a:srgbClr val="0000FF"/>
                </a:solidFill>
                <a:effectLst/>
                <a:latin typeface="Calibri" panose="020F0502020204030204" pitchFamily="34" charset="0"/>
                <a:ea typeface="SimSun" panose="02010600030101010101" pitchFamily="2" charset="-122"/>
                <a:cs typeface="Times New Roman" panose="02020603050405020304" pitchFamily="18" charset="0"/>
                <a:hlinkClick r:id="rId6"/>
              </a:rPr>
              <a:t>https://www.advayamtech.in/</a:t>
            </a:r>
            <a:r>
              <a:rPr lang="en-US" sz="1600" dirty="0">
                <a:effectLst/>
                <a:latin typeface="Calibri" panose="020F0502020204030204" pitchFamily="34" charset="0"/>
                <a:ea typeface="SimSun" panose="02010600030101010101" pitchFamily="2" charset="-122"/>
                <a:cs typeface="Times New Roman" panose="02020603050405020304" pitchFamily="18" charset="0"/>
              </a:rPr>
              <a:t> </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1460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1028" name="Picture 4" descr="Efforts are being exerted to efface unique identity of Bharat, but why?"/>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41494" y="-56319"/>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009DC871-EFC9-7EEF-1E18-0E2D0426E59E}"/>
              </a:ext>
            </a:extLst>
          </p:cNvPr>
          <p:cNvSpPr txBox="1"/>
          <p:nvPr/>
        </p:nvSpPr>
        <p:spPr>
          <a:xfrm>
            <a:off x="387940" y="6468042"/>
            <a:ext cx="9130120" cy="307777"/>
          </a:xfrm>
          <a:prstGeom prst="rect">
            <a:avLst/>
          </a:prstGeom>
          <a:noFill/>
        </p:spPr>
        <p:txBody>
          <a:bodyPr wrap="square">
            <a:spAutoFit/>
          </a:bodyPr>
          <a:lstStyle/>
          <a:p>
            <a:pPr algn="ctr">
              <a:spcBef>
                <a:spcPts val="300"/>
              </a:spcBef>
              <a:spcAft>
                <a:spcPts val="300"/>
              </a:spcAft>
            </a:pPr>
            <a:r>
              <a:rPr lang="en-US" sz="1400" b="1" dirty="0">
                <a:solidFill>
                  <a:schemeClr val="accent5">
                    <a:lumMod val="50000"/>
                  </a:schemeClr>
                </a:solidFill>
              </a:rPr>
              <a:t>Advayam combines Arduino simplicity with industrial-grade embedded intelligence</a:t>
            </a:r>
          </a:p>
        </p:txBody>
      </p:sp>
      <p:sp>
        <p:nvSpPr>
          <p:cNvPr id="3" name="TextBox 2">
            <a:extLst>
              <a:ext uri="{FF2B5EF4-FFF2-40B4-BE49-F238E27FC236}">
                <a16:creationId xmlns:a16="http://schemas.microsoft.com/office/drawing/2014/main" id="{34B0E7C8-D0A4-0606-DD15-38E01729FB0D}"/>
              </a:ext>
            </a:extLst>
          </p:cNvPr>
          <p:cNvSpPr txBox="1"/>
          <p:nvPr/>
        </p:nvSpPr>
        <p:spPr>
          <a:xfrm>
            <a:off x="2241494" y="577516"/>
            <a:ext cx="7344859" cy="821059"/>
          </a:xfrm>
          <a:prstGeom prst="rect">
            <a:avLst/>
          </a:prstGeom>
          <a:noFill/>
        </p:spPr>
        <p:txBody>
          <a:bodyPr wrap="square">
            <a:spAutoFit/>
          </a:bodyPr>
          <a:lstStyle/>
          <a:p>
            <a:pPr algn="just">
              <a:lnSpc>
                <a:spcPct val="115000"/>
              </a:lnSpc>
              <a:spcAft>
                <a:spcPts val="1000"/>
              </a:spcAft>
            </a:pPr>
            <a:r>
              <a:rPr lang="en-US" sz="1400" dirty="0">
                <a:latin typeface="Calibri" panose="020F0502020204030204" pitchFamily="34" charset="0"/>
                <a:ea typeface="SimSun" panose="02010600030101010101" pitchFamily="2" charset="-122"/>
                <a:cs typeface="Times New Roman" panose="02020603050405020304" pitchFamily="18" charset="0"/>
              </a:rPr>
              <a:t>ADVAYAM is an open, scalable and future-ready embedded development ecosystem consisting of both hardware and software systems that empowers innovation in education, research, prototyping and industrial product development.</a:t>
            </a:r>
            <a:endParaRPr lang="en-IN" sz="1400" dirty="0">
              <a:latin typeface="Calibri" panose="020F0502020204030204" pitchFamily="34" charset="0"/>
              <a:ea typeface="SimSun" panose="02010600030101010101" pitchFamily="2" charset="-122"/>
              <a:cs typeface="Times New Roman" panose="02020603050405020304" pitchFamily="18" charset="0"/>
            </a:endParaRPr>
          </a:p>
        </p:txBody>
      </p:sp>
      <p:sp>
        <p:nvSpPr>
          <p:cNvPr id="8" name="TextBox 7">
            <a:extLst>
              <a:ext uri="{FF2B5EF4-FFF2-40B4-BE49-F238E27FC236}">
                <a16:creationId xmlns:a16="http://schemas.microsoft.com/office/drawing/2014/main" id="{EC268C64-BCCF-FF50-8874-299C04E642E8}"/>
              </a:ext>
            </a:extLst>
          </p:cNvPr>
          <p:cNvSpPr txBox="1"/>
          <p:nvPr/>
        </p:nvSpPr>
        <p:spPr>
          <a:xfrm>
            <a:off x="2358996" y="1578588"/>
            <a:ext cx="7109853" cy="3700821"/>
          </a:xfrm>
          <a:prstGeom prst="rect">
            <a:avLst/>
          </a:prstGeom>
          <a:noFill/>
        </p:spPr>
        <p:txBody>
          <a:bodyPr wrap="square">
            <a:spAutoFit/>
          </a:bodyPr>
          <a:lstStyle/>
          <a:p>
            <a:pPr algn="just">
              <a:lnSpc>
                <a:spcPct val="115000"/>
              </a:lnSpc>
              <a:spcAft>
                <a:spcPts val="1000"/>
              </a:spcAft>
              <a:buNone/>
            </a:pPr>
            <a:r>
              <a:rPr lang="en-US" sz="1400" dirty="0">
                <a:latin typeface="Calibri" panose="020F0502020204030204" pitchFamily="34" charset="0"/>
                <a:ea typeface="SimSun" panose="02010600030101010101" pitchFamily="2" charset="-122"/>
                <a:cs typeface="Times New Roman" panose="02020603050405020304" pitchFamily="18" charset="0"/>
              </a:rPr>
              <a:t>Webyfy IoT has developed ADVAYAM as an open-source project to: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285750" lvl="0" indent="-285750" algn="just">
              <a:lnSpc>
                <a:spcPct val="115000"/>
              </a:lnSpc>
              <a:spcAft>
                <a:spcPts val="1000"/>
              </a:spcAft>
              <a:buFont typeface="Arial" panose="020B0604020202020204" pitchFamily="34" charset="0"/>
              <a:buChar char="•"/>
            </a:pPr>
            <a:r>
              <a:rPr lang="en-US" sz="1400" dirty="0" err="1">
                <a:latin typeface="Calibri" panose="020F0502020204030204" pitchFamily="34" charset="0"/>
                <a:ea typeface="SimSun" panose="02010600030101010101" pitchFamily="2" charset="-122"/>
                <a:cs typeface="Times New Roman" panose="02020603050405020304" pitchFamily="18" charset="0"/>
              </a:rPr>
              <a:t>Democratise</a:t>
            </a:r>
            <a:r>
              <a:rPr lang="en-US" sz="1400" dirty="0">
                <a:latin typeface="Calibri" panose="020F0502020204030204" pitchFamily="34" charset="0"/>
                <a:ea typeface="SimSun" panose="02010600030101010101" pitchFamily="2" charset="-122"/>
                <a:cs typeface="Times New Roman" panose="02020603050405020304" pitchFamily="18" charset="0"/>
              </a:rPr>
              <a:t> advanced embedded computing</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285750" lvl="0" indent="-285750" algn="just">
              <a:lnSpc>
                <a:spcPct val="115000"/>
              </a:lnSpc>
              <a:spcAft>
                <a:spcPts val="1000"/>
              </a:spcAft>
              <a:buFont typeface="Arial" panose="020B0604020202020204" pitchFamily="34" charset="0"/>
              <a:buChar char="•"/>
            </a:pPr>
            <a:r>
              <a:rPr lang="en-US" sz="1400" dirty="0">
                <a:latin typeface="Calibri" panose="020F0502020204030204" pitchFamily="34" charset="0"/>
                <a:ea typeface="SimSun" panose="02010600030101010101" pitchFamily="2" charset="-122"/>
                <a:cs typeface="Times New Roman" panose="02020603050405020304" pitchFamily="18" charset="0"/>
              </a:rPr>
              <a:t>Enable multi-language and multi-framework development</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285750" lvl="0" indent="-285750" algn="just">
              <a:lnSpc>
                <a:spcPct val="115000"/>
              </a:lnSpc>
              <a:spcAft>
                <a:spcPts val="1000"/>
              </a:spcAft>
              <a:buFont typeface="Arial" panose="020B0604020202020204" pitchFamily="34" charset="0"/>
              <a:buChar char="•"/>
            </a:pPr>
            <a:r>
              <a:rPr lang="en-US" sz="1400" dirty="0">
                <a:latin typeface="Calibri" panose="020F0502020204030204" pitchFamily="34" charset="0"/>
                <a:ea typeface="SimSun" panose="02010600030101010101" pitchFamily="2" charset="-122"/>
                <a:cs typeface="Times New Roman" panose="02020603050405020304" pitchFamily="18" charset="0"/>
              </a:rPr>
              <a:t>Bridge the widening gap between academia and industry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285750" lvl="0" indent="-285750" algn="just">
              <a:lnSpc>
                <a:spcPct val="115000"/>
              </a:lnSpc>
              <a:spcAft>
                <a:spcPts val="1000"/>
              </a:spcAft>
              <a:buFont typeface="Arial" panose="020B0604020202020204" pitchFamily="34" charset="0"/>
              <a:buChar char="•"/>
            </a:pPr>
            <a:r>
              <a:rPr lang="en-US" sz="1400" dirty="0">
                <a:latin typeface="Calibri" panose="020F0502020204030204" pitchFamily="34" charset="0"/>
                <a:ea typeface="SimSun" panose="02010600030101010101" pitchFamily="2" charset="-122"/>
                <a:cs typeface="Times New Roman" panose="02020603050405020304" pitchFamily="18" charset="0"/>
              </a:rPr>
              <a:t>Provide a seamless alternative to legacy prototyping ecosystems</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285750" lvl="0" indent="-285750" algn="just">
              <a:lnSpc>
                <a:spcPct val="115000"/>
              </a:lnSpc>
              <a:spcAft>
                <a:spcPts val="1000"/>
              </a:spcAft>
              <a:buFont typeface="Arial" panose="020B0604020202020204" pitchFamily="34" charset="0"/>
              <a:buChar char="•"/>
            </a:pPr>
            <a:r>
              <a:rPr lang="en-US" sz="1400" dirty="0">
                <a:latin typeface="Calibri" panose="020F0502020204030204" pitchFamily="34" charset="0"/>
                <a:ea typeface="SimSun" panose="02010600030101010101" pitchFamily="2" charset="-122"/>
                <a:cs typeface="Times New Roman" panose="02020603050405020304" pitchFamily="18" charset="0"/>
              </a:rPr>
              <a:t>Support next-generation IoT and edge computing applications</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285750" lvl="0" indent="-285750" algn="just">
              <a:lnSpc>
                <a:spcPct val="115000"/>
              </a:lnSpc>
              <a:spcAft>
                <a:spcPts val="1000"/>
              </a:spcAft>
              <a:buFont typeface="Arial" panose="020B0604020202020204" pitchFamily="34" charset="0"/>
              <a:buChar char="•"/>
            </a:pPr>
            <a:r>
              <a:rPr lang="en-US" sz="1400" dirty="0">
                <a:latin typeface="Calibri" panose="020F0502020204030204" pitchFamily="34" charset="0"/>
                <a:ea typeface="SimSun" panose="02010600030101010101" pitchFamily="2" charset="-122"/>
                <a:cs typeface="Times New Roman" panose="02020603050405020304" pitchFamily="18" charset="0"/>
              </a:rPr>
              <a:t>Provide indigenous microcontrollers designed and released by Indian companies to have a platform to prove the performance and application worthiness by building a base module with Advayam specifications. For example – VEGA processor by CADC being integrated.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285750" lvl="0" indent="-285750" algn="just">
              <a:lnSpc>
                <a:spcPct val="115000"/>
              </a:lnSpc>
              <a:spcAft>
                <a:spcPts val="1000"/>
              </a:spcAft>
              <a:buFont typeface="Arial" panose="020B0604020202020204" pitchFamily="34" charset="0"/>
              <a:buChar char="•"/>
            </a:pPr>
            <a:r>
              <a:rPr lang="en-US" sz="1400" dirty="0">
                <a:latin typeface="Calibri" panose="020F0502020204030204" pitchFamily="34" charset="0"/>
                <a:ea typeface="SimSun" panose="02010600030101010101" pitchFamily="2" charset="-122"/>
                <a:cs typeface="Times New Roman" panose="02020603050405020304" pitchFamily="18" charset="0"/>
              </a:rPr>
              <a:t>Help set up </a:t>
            </a:r>
            <a:r>
              <a:rPr lang="en-US" sz="1400" dirty="0" err="1">
                <a:latin typeface="Calibri" panose="020F0502020204030204" pitchFamily="34" charset="0"/>
                <a:ea typeface="SimSun" panose="02010600030101010101" pitchFamily="2" charset="-122"/>
                <a:cs typeface="Times New Roman" panose="02020603050405020304" pitchFamily="18" charset="0"/>
              </a:rPr>
              <a:t>Centres</a:t>
            </a:r>
            <a:r>
              <a:rPr lang="en-US" sz="1400" dirty="0">
                <a:latin typeface="Calibri" panose="020F0502020204030204" pitchFamily="34" charset="0"/>
                <a:ea typeface="SimSun" panose="02010600030101010101" pitchFamily="2" charset="-122"/>
                <a:cs typeface="Times New Roman" panose="02020603050405020304" pitchFamily="18" charset="0"/>
              </a:rPr>
              <a:t> of Excellence for IoT in universities in a hub-and-spoke model using Advayam technology to bridge the diverging gap between academia and Industry</a:t>
            </a:r>
            <a:endParaRPr lang="en-IN" sz="1400" dirty="0">
              <a:latin typeface="Calibri" panose="020F0502020204030204" pitchFamily="34" charset="0"/>
              <a:ea typeface="SimSun" panose="02010600030101010101" pitchFamily="2" charset="-122"/>
              <a:cs typeface="Times New Roman" panose="02020603050405020304" pitchFamily="18" charset="0"/>
            </a:endParaRPr>
          </a:p>
        </p:txBody>
      </p:sp>
      <p:sp>
        <p:nvSpPr>
          <p:cNvPr id="11" name="TextBox 10">
            <a:extLst>
              <a:ext uri="{FF2B5EF4-FFF2-40B4-BE49-F238E27FC236}">
                <a16:creationId xmlns:a16="http://schemas.microsoft.com/office/drawing/2014/main" id="{61AB26AE-6CB4-42BC-F22D-788AE65F212E}"/>
              </a:ext>
            </a:extLst>
          </p:cNvPr>
          <p:cNvSpPr txBox="1"/>
          <p:nvPr/>
        </p:nvSpPr>
        <p:spPr>
          <a:xfrm>
            <a:off x="2159653" y="5552740"/>
            <a:ext cx="7109853" cy="641971"/>
          </a:xfrm>
          <a:prstGeom prst="rect">
            <a:avLst/>
          </a:prstGeom>
          <a:noFill/>
          <a:ln>
            <a:solidFill>
              <a:schemeClr val="accent1"/>
            </a:solidFill>
          </a:ln>
        </p:spPr>
        <p:txBody>
          <a:bodyPr wrap="square">
            <a:spAutoFit/>
          </a:bodyPr>
          <a:lstStyle/>
          <a:p>
            <a:pPr algn="ctr">
              <a:lnSpc>
                <a:spcPct val="115000"/>
              </a:lnSpc>
              <a:spcBef>
                <a:spcPts val="1200"/>
              </a:spcBef>
              <a:spcAft>
                <a:spcPts val="1200"/>
              </a:spcAft>
              <a:buNone/>
            </a:pPr>
            <a:r>
              <a:rPr lang="en-US" sz="1600" b="1" dirty="0">
                <a:effectLst/>
                <a:latin typeface="Calibri" panose="020F0502020204030204" pitchFamily="34" charset="0"/>
                <a:ea typeface="SimSun" panose="02010600030101010101" pitchFamily="2" charset="-122"/>
                <a:cs typeface="Times New Roman" panose="02020603050405020304" pitchFamily="18" charset="0"/>
              </a:rPr>
              <a:t>Advayam is intended to be a platform for ingeniously developed microcontrollers </a:t>
            </a:r>
            <a:br>
              <a:rPr lang="en-US" sz="1600" b="1" dirty="0">
                <a:effectLst/>
                <a:latin typeface="Calibri" panose="020F0502020204030204" pitchFamily="34" charset="0"/>
                <a:ea typeface="SimSun" panose="02010600030101010101" pitchFamily="2" charset="-122"/>
                <a:cs typeface="Times New Roman" panose="02020603050405020304" pitchFamily="18" charset="0"/>
              </a:rPr>
            </a:br>
            <a:r>
              <a:rPr lang="en-US" sz="1600" b="1" dirty="0">
                <a:effectLst/>
                <a:latin typeface="Calibri" panose="020F0502020204030204" pitchFamily="34" charset="0"/>
                <a:ea typeface="SimSun" panose="02010600030101010101" pitchFamily="2" charset="-122"/>
                <a:cs typeface="Times New Roman" panose="02020603050405020304" pitchFamily="18" charset="0"/>
              </a:rPr>
              <a:t>using which they can prove their usefulness and reliability with little effort. </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77974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DDFC18B-DEB5-04BE-5D13-139DCC0E001E}"/>
              </a:ext>
            </a:extLst>
          </p:cNvPr>
          <p:cNvSpPr txBox="1"/>
          <p:nvPr/>
        </p:nvSpPr>
        <p:spPr>
          <a:xfrm>
            <a:off x="387940" y="6468042"/>
            <a:ext cx="9130120" cy="307777"/>
          </a:xfrm>
          <a:prstGeom prst="rect">
            <a:avLst/>
          </a:prstGeom>
          <a:noFill/>
        </p:spPr>
        <p:txBody>
          <a:bodyPr wrap="square">
            <a:spAutoFit/>
          </a:bodyPr>
          <a:lstStyle/>
          <a:p>
            <a:pPr algn="ctr">
              <a:spcBef>
                <a:spcPts val="300"/>
              </a:spcBef>
              <a:spcAft>
                <a:spcPts val="300"/>
              </a:spcAft>
            </a:pPr>
            <a:r>
              <a:rPr lang="en-US" sz="1400" b="1" dirty="0">
                <a:solidFill>
                  <a:schemeClr val="accent5">
                    <a:lumMod val="50000"/>
                  </a:schemeClr>
                </a:solidFill>
              </a:rPr>
              <a:t>Advayam’s primary stage testing module is released with support for C, C++, Arduino and </a:t>
            </a:r>
            <a:r>
              <a:rPr lang="en-US" sz="1400" b="1" dirty="0" err="1">
                <a:solidFill>
                  <a:schemeClr val="accent5">
                    <a:lumMod val="50000"/>
                  </a:schemeClr>
                </a:solidFill>
              </a:rPr>
              <a:t>FreeRTOS</a:t>
            </a:r>
            <a:r>
              <a:rPr lang="en-US" sz="1400" b="1" dirty="0">
                <a:solidFill>
                  <a:schemeClr val="accent5">
                    <a:lumMod val="50000"/>
                  </a:schemeClr>
                </a:solidFill>
              </a:rPr>
              <a:t> programming</a:t>
            </a:r>
          </a:p>
        </p:txBody>
      </p:sp>
      <p:graphicFrame>
        <p:nvGraphicFramePr>
          <p:cNvPr id="9" name="Table 2">
            <a:extLst>
              <a:ext uri="{FF2B5EF4-FFF2-40B4-BE49-F238E27FC236}">
                <a16:creationId xmlns:a16="http://schemas.microsoft.com/office/drawing/2014/main" id="{4B8D9BE1-6ECA-A679-0858-7FBAA6601936}"/>
              </a:ext>
            </a:extLst>
          </p:cNvPr>
          <p:cNvGraphicFramePr>
            <a:graphicFrameLocks noGrp="1"/>
          </p:cNvGraphicFramePr>
          <p:nvPr>
            <p:extLst>
              <p:ext uri="{D42A27DB-BD31-4B8C-83A1-F6EECF244321}">
                <p14:modId xmlns:p14="http://schemas.microsoft.com/office/powerpoint/2010/main" val="2379942444"/>
              </p:ext>
            </p:extLst>
          </p:nvPr>
        </p:nvGraphicFramePr>
        <p:xfrm>
          <a:off x="2591279" y="2060970"/>
          <a:ext cx="6926781" cy="2069520"/>
        </p:xfrm>
        <a:graphic>
          <a:graphicData uri="http://schemas.openxmlformats.org/drawingml/2006/table">
            <a:tbl>
              <a:tblPr/>
              <a:tblGrid>
                <a:gridCol w="1310909">
                  <a:extLst>
                    <a:ext uri="{9D8B030D-6E8A-4147-A177-3AD203B41FA5}">
                      <a16:colId xmlns:a16="http://schemas.microsoft.com/office/drawing/2014/main" val="20000"/>
                    </a:ext>
                  </a:extLst>
                </a:gridCol>
                <a:gridCol w="2484255">
                  <a:extLst>
                    <a:ext uri="{9D8B030D-6E8A-4147-A177-3AD203B41FA5}">
                      <a16:colId xmlns:a16="http://schemas.microsoft.com/office/drawing/2014/main" val="20001"/>
                    </a:ext>
                  </a:extLst>
                </a:gridCol>
                <a:gridCol w="3131617">
                  <a:extLst>
                    <a:ext uri="{9D8B030D-6E8A-4147-A177-3AD203B41FA5}">
                      <a16:colId xmlns:a16="http://schemas.microsoft.com/office/drawing/2014/main" val="20002"/>
                    </a:ext>
                  </a:extLst>
                </a:gridCol>
              </a:tblGrid>
              <a:tr h="208631">
                <a:tc>
                  <a:txBody>
                    <a:bodyPr/>
                    <a:lstStyle/>
                    <a:p>
                      <a:pPr algn="l">
                        <a:lnSpc>
                          <a:spcPct val="100000"/>
                        </a:lnSpc>
                        <a:defRPr/>
                      </a:pPr>
                      <a:r>
                        <a:rPr lang="en-US" sz="1400" b="1" dirty="0">
                          <a:solidFill>
                            <a:srgbClr val="000000"/>
                          </a:solidFill>
                          <a:latin typeface="+mn-lt"/>
                          <a:ea typeface="Times New Roman Bold"/>
                          <a:cs typeface="Times New Roman Bold"/>
                          <a:sym typeface="Times New Roman Bold"/>
                        </a:rPr>
                        <a:t>Level</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b="1" dirty="0">
                          <a:solidFill>
                            <a:srgbClr val="000000"/>
                          </a:solidFill>
                          <a:latin typeface="+mn-lt"/>
                          <a:ea typeface="Times New Roman Bold"/>
                          <a:cs typeface="Times New Roman Bold"/>
                          <a:sym typeface="Times New Roman Bold"/>
                        </a:rPr>
                        <a:t>Learning Tools</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b="1" dirty="0">
                          <a:solidFill>
                            <a:srgbClr val="000000"/>
                          </a:solidFill>
                          <a:latin typeface="+mn-lt"/>
                          <a:ea typeface="Times New Roman Bold"/>
                          <a:cs typeface="Times New Roman Bold"/>
                          <a:sym typeface="Times New Roman Bold"/>
                        </a:rPr>
                        <a:t>Outcomes</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3194">
                <a:tc>
                  <a:txBody>
                    <a:bodyPr/>
                    <a:lstStyle/>
                    <a:p>
                      <a:pPr algn="l">
                        <a:lnSpc>
                          <a:spcPct val="100000"/>
                        </a:lnSpc>
                        <a:defRPr/>
                      </a:pPr>
                      <a:r>
                        <a:rPr lang="en-US" sz="1400" dirty="0">
                          <a:solidFill>
                            <a:srgbClr val="000000"/>
                          </a:solidFill>
                          <a:latin typeface="+mn-lt"/>
                          <a:ea typeface="Times New Roman"/>
                          <a:cs typeface="Times New Roman"/>
                          <a:sym typeface="Times New Roman"/>
                        </a:rPr>
                        <a:t>School  (K-12)</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dirty="0">
                          <a:solidFill>
                            <a:srgbClr val="000000"/>
                          </a:solidFill>
                          <a:latin typeface="+mn-lt"/>
                          <a:ea typeface="Times New Roman"/>
                          <a:cs typeface="Times New Roman"/>
                          <a:sym typeface="Times New Roman"/>
                        </a:rPr>
                        <a:t>Advayam Junior App</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dirty="0">
                          <a:solidFill>
                            <a:srgbClr val="000000"/>
                          </a:solidFill>
                          <a:latin typeface="+mn-lt"/>
                          <a:ea typeface="Times New Roman"/>
                          <a:cs typeface="Times New Roman"/>
                          <a:sym typeface="Times New Roman"/>
                        </a:rPr>
                        <a:t>Logic building, sensors, LED/Motor  control</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3194">
                <a:tc>
                  <a:txBody>
                    <a:bodyPr/>
                    <a:lstStyle/>
                    <a:p>
                      <a:pPr algn="l">
                        <a:lnSpc>
                          <a:spcPct val="100000"/>
                        </a:lnSpc>
                        <a:defRPr/>
                      </a:pPr>
                      <a:r>
                        <a:rPr lang="en-US" sz="1400" dirty="0">
                          <a:solidFill>
                            <a:srgbClr val="000000"/>
                          </a:solidFill>
                          <a:latin typeface="+mn-lt"/>
                          <a:ea typeface="Times New Roman"/>
                          <a:cs typeface="Times New Roman"/>
                          <a:sym typeface="Times New Roman"/>
                        </a:rPr>
                        <a:t>Under graduate</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dirty="0">
                          <a:solidFill>
                            <a:srgbClr val="000000"/>
                          </a:solidFill>
                          <a:latin typeface="+mn-lt"/>
                          <a:ea typeface="Times New Roman"/>
                          <a:cs typeface="Times New Roman"/>
                          <a:sym typeface="Times New Roman"/>
                        </a:rPr>
                        <a:t>VSCode + Advayam Extension, Arduino, Web IDE, Simulators </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dirty="0">
                          <a:solidFill>
                            <a:srgbClr val="000000"/>
                          </a:solidFill>
                          <a:latin typeface="+mn-lt"/>
                          <a:ea typeface="Times New Roman"/>
                          <a:cs typeface="Times New Roman"/>
                          <a:sym typeface="Times New Roman"/>
                        </a:rPr>
                        <a:t>Hardware interfacing, real-world projects</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33194">
                <a:tc>
                  <a:txBody>
                    <a:bodyPr/>
                    <a:lstStyle/>
                    <a:p>
                      <a:pPr algn="l">
                        <a:lnSpc>
                          <a:spcPct val="100000"/>
                        </a:lnSpc>
                        <a:defRPr/>
                      </a:pPr>
                      <a:r>
                        <a:rPr lang="en-US" sz="1400" dirty="0">
                          <a:solidFill>
                            <a:srgbClr val="000000"/>
                          </a:solidFill>
                          <a:latin typeface="+mn-lt"/>
                          <a:ea typeface="Times New Roman"/>
                          <a:cs typeface="Times New Roman"/>
                          <a:sym typeface="Times New Roman"/>
                        </a:rPr>
                        <a:t>Post graduate</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dirty="0">
                          <a:solidFill>
                            <a:srgbClr val="000000"/>
                          </a:solidFill>
                          <a:latin typeface="+mn-lt"/>
                          <a:ea typeface="Times New Roman"/>
                          <a:cs typeface="Times New Roman"/>
                          <a:sym typeface="Times New Roman"/>
                        </a:rPr>
                        <a:t>Rust, ESP-IDF, Free RTOs, Zephyr RTOS, Web IDE, Simulators </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ct val="100000"/>
                        </a:lnSpc>
                        <a:defRPr/>
                      </a:pPr>
                      <a:r>
                        <a:rPr lang="en-US" sz="1400" dirty="0">
                          <a:solidFill>
                            <a:srgbClr val="000000"/>
                          </a:solidFill>
                          <a:latin typeface="+mn-lt"/>
                          <a:ea typeface="Times New Roman"/>
                          <a:cs typeface="Times New Roman"/>
                          <a:sym typeface="Times New Roman"/>
                        </a:rPr>
                        <a:t>Research, low-level control, networked systems</a:t>
                      </a:r>
                      <a:endParaRPr lang="en-US" sz="1400" dirty="0">
                        <a:latin typeface="+mn-lt"/>
                      </a:endParaRPr>
                    </a:p>
                  </a:txBody>
                  <a:tcPr marL="72000" marR="72000" marT="72000" marB="720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Box 8">
            <a:extLst>
              <a:ext uri="{FF2B5EF4-FFF2-40B4-BE49-F238E27FC236}">
                <a16:creationId xmlns:a16="http://schemas.microsoft.com/office/drawing/2014/main" id="{0A03C2CC-E6D5-2C05-24FD-E97D255BEC05}"/>
              </a:ext>
            </a:extLst>
          </p:cNvPr>
          <p:cNvSpPr txBox="1"/>
          <p:nvPr/>
        </p:nvSpPr>
        <p:spPr>
          <a:xfrm>
            <a:off x="4246223" y="1478442"/>
            <a:ext cx="3288751" cy="275717"/>
          </a:xfrm>
          <a:prstGeom prst="rect">
            <a:avLst/>
          </a:prstGeom>
        </p:spPr>
        <p:txBody>
          <a:bodyPr lIns="0" tIns="0" rIns="0" bIns="0" rtlCol="0" anchor="t">
            <a:spAutoFit/>
          </a:bodyPr>
          <a:lstStyle/>
          <a:p>
            <a:pPr algn="ctr">
              <a:lnSpc>
                <a:spcPts val="2255"/>
              </a:lnSpc>
              <a:spcBef>
                <a:spcPct val="0"/>
              </a:spcBef>
            </a:pPr>
            <a:r>
              <a:rPr lang="en-US" sz="1600" dirty="0">
                <a:solidFill>
                  <a:schemeClr val="accent1">
                    <a:lumMod val="75000"/>
                  </a:schemeClr>
                </a:solidFill>
                <a:ea typeface="Times New Roman Ultra-Bold"/>
                <a:cs typeface="Times New Roman Ultra-Bold"/>
                <a:sym typeface="Times New Roman Ultra-Bold"/>
              </a:rPr>
              <a:t>Designed for All Levels of Learning</a:t>
            </a:r>
          </a:p>
        </p:txBody>
      </p:sp>
      <p:pic>
        <p:nvPicPr>
          <p:cNvPr id="7" name="Picture 6">
            <a:extLst>
              <a:ext uri="{FF2B5EF4-FFF2-40B4-BE49-F238E27FC236}">
                <a16:creationId xmlns:a16="http://schemas.microsoft.com/office/drawing/2014/main" id="{D387BF51-F1AC-4DE1-8872-79F696CA7C77}"/>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16" name="Picture 15" descr="Efforts are being exerted to efface unique identity of Bharat, but why?">
            <a:extLst>
              <a:ext uri="{FF2B5EF4-FFF2-40B4-BE49-F238E27FC236}">
                <a16:creationId xmlns:a16="http://schemas.microsoft.com/office/drawing/2014/main" id="{69CB6F6C-9FF5-6D8E-481F-C57B0E1EA8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474B7BC7-B88E-9EA8-B6BF-3ECB53813030}"/>
              </a:ext>
            </a:extLst>
          </p:cNvPr>
          <p:cNvSpPr/>
          <p:nvPr/>
        </p:nvSpPr>
        <p:spPr>
          <a:xfrm>
            <a:off x="2338598" y="138467"/>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52690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B32368D-9B9F-7839-C8AE-C1CF6C0E3D98}"/>
              </a:ext>
            </a:extLst>
          </p:cNvPr>
          <p:cNvGraphicFramePr>
            <a:graphicFrameLocks noGrp="1"/>
          </p:cNvGraphicFramePr>
          <p:nvPr>
            <p:extLst>
              <p:ext uri="{D42A27DB-BD31-4B8C-83A1-F6EECF244321}">
                <p14:modId xmlns:p14="http://schemas.microsoft.com/office/powerpoint/2010/main" val="1560232209"/>
              </p:ext>
            </p:extLst>
          </p:nvPr>
        </p:nvGraphicFramePr>
        <p:xfrm>
          <a:off x="127546" y="333439"/>
          <a:ext cx="4825454" cy="6169680"/>
        </p:xfrm>
        <a:graphic>
          <a:graphicData uri="http://schemas.openxmlformats.org/drawingml/2006/table">
            <a:tbl>
              <a:tblPr firstRow="1" firstCol="1" bandRow="1">
                <a:tableStyleId>{5C22544A-7EE6-4342-B048-85BDC9FD1C3A}</a:tableStyleId>
              </a:tblPr>
              <a:tblGrid>
                <a:gridCol w="311673">
                  <a:extLst>
                    <a:ext uri="{9D8B030D-6E8A-4147-A177-3AD203B41FA5}">
                      <a16:colId xmlns:a16="http://schemas.microsoft.com/office/drawing/2014/main" val="2557252455"/>
                    </a:ext>
                  </a:extLst>
                </a:gridCol>
                <a:gridCol w="1316650">
                  <a:extLst>
                    <a:ext uri="{9D8B030D-6E8A-4147-A177-3AD203B41FA5}">
                      <a16:colId xmlns:a16="http://schemas.microsoft.com/office/drawing/2014/main" val="2862132050"/>
                    </a:ext>
                  </a:extLst>
                </a:gridCol>
                <a:gridCol w="1554190">
                  <a:extLst>
                    <a:ext uri="{9D8B030D-6E8A-4147-A177-3AD203B41FA5}">
                      <a16:colId xmlns:a16="http://schemas.microsoft.com/office/drawing/2014/main" val="4026427659"/>
                    </a:ext>
                  </a:extLst>
                </a:gridCol>
                <a:gridCol w="1642941">
                  <a:extLst>
                    <a:ext uri="{9D8B030D-6E8A-4147-A177-3AD203B41FA5}">
                      <a16:colId xmlns:a16="http://schemas.microsoft.com/office/drawing/2014/main" val="3930437932"/>
                    </a:ext>
                  </a:extLst>
                </a:gridCol>
              </a:tblGrid>
              <a:tr h="0">
                <a:tc>
                  <a:txBody>
                    <a:bodyPr/>
                    <a:lstStyle/>
                    <a:p>
                      <a:pPr algn="ctr">
                        <a:lnSpc>
                          <a:spcPct val="100000"/>
                        </a:lnSpc>
                        <a:spcBef>
                          <a:spcPts val="0"/>
                        </a:spcBef>
                        <a:spcAft>
                          <a:spcPts val="0"/>
                        </a:spcAft>
                        <a:buNone/>
                      </a:pPr>
                      <a:r>
                        <a:rPr lang="en-IN" sz="1200" b="0" kern="100" dirty="0">
                          <a:effectLst/>
                        </a:rPr>
                        <a:t> </a:t>
                      </a:r>
                      <a:endParaRPr lang="en-IN" sz="12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gn="ctr">
                        <a:lnSpc>
                          <a:spcPct val="100000"/>
                        </a:lnSpc>
                        <a:spcBef>
                          <a:spcPts val="0"/>
                        </a:spcBef>
                        <a:spcAft>
                          <a:spcPts val="0"/>
                        </a:spcAft>
                        <a:buNone/>
                      </a:pPr>
                      <a:r>
                        <a:rPr lang="en-IN" sz="1200" kern="100" dirty="0">
                          <a:effectLst/>
                        </a:rPr>
                        <a:t>Aspect</a:t>
                      </a:r>
                      <a:endParaRPr lang="en-IN"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gn="ctr">
                        <a:lnSpc>
                          <a:spcPct val="100000"/>
                        </a:lnSpc>
                        <a:spcBef>
                          <a:spcPts val="0"/>
                        </a:spcBef>
                        <a:spcAft>
                          <a:spcPts val="0"/>
                        </a:spcAft>
                        <a:buNone/>
                      </a:pPr>
                      <a:r>
                        <a:rPr lang="en-IN" sz="1200" kern="100" dirty="0">
                          <a:effectLst/>
                        </a:rPr>
                        <a:t>Arduino</a:t>
                      </a:r>
                      <a:endParaRPr lang="en-IN"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gn="ctr">
                        <a:lnSpc>
                          <a:spcPct val="100000"/>
                        </a:lnSpc>
                        <a:spcBef>
                          <a:spcPts val="0"/>
                        </a:spcBef>
                        <a:spcAft>
                          <a:spcPts val="0"/>
                        </a:spcAft>
                        <a:buNone/>
                      </a:pPr>
                      <a:r>
                        <a:rPr lang="en-IN" sz="1200" kern="100" dirty="0">
                          <a:effectLst/>
                        </a:rPr>
                        <a:t>Advayam</a:t>
                      </a:r>
                      <a:endParaRPr lang="en-IN"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3443433862"/>
                  </a:ext>
                </a:extLst>
              </a:tr>
              <a:tr h="0">
                <a:tc>
                  <a:txBody>
                    <a:bodyPr/>
                    <a:lstStyle/>
                    <a:p>
                      <a:pPr algn="ctr">
                        <a:lnSpc>
                          <a:spcPct val="100000"/>
                        </a:lnSpc>
                        <a:spcBef>
                          <a:spcPts val="0"/>
                        </a:spcBef>
                        <a:spcAft>
                          <a:spcPts val="0"/>
                        </a:spcAft>
                        <a:buNone/>
                      </a:pPr>
                      <a:r>
                        <a:rPr lang="en-IN" sz="1000" b="0" kern="100" dirty="0">
                          <a:effectLst/>
                        </a:rPr>
                        <a:t>I</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Bef>
                          <a:spcPts val="0"/>
                        </a:spcBef>
                        <a:spcAft>
                          <a:spcPts val="0"/>
                        </a:spcAft>
                        <a:buNone/>
                      </a:pPr>
                      <a:r>
                        <a:rPr lang="en-IN" sz="1000" b="1" kern="100" dirty="0">
                          <a:effectLst/>
                        </a:rPr>
                        <a:t>Platform Philosophy</a:t>
                      </a:r>
                      <a:r>
                        <a:rPr lang="en-IN" sz="1000" kern="100" dirty="0">
                          <a:effectLst/>
                        </a:rPr>
                        <a:t> </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hMerge="1">
                  <a:txBody>
                    <a:bodyPr/>
                    <a:lstStyle/>
                    <a:p>
                      <a:endParaRPr/>
                    </a:p>
                  </a:txBody>
                  <a:tcPr marL="22089" marR="22089" marT="0" marB="0"/>
                </a:tc>
                <a:tc hMerge="1">
                  <a:txBody>
                    <a:bodyPr/>
                    <a:lstStyle/>
                    <a:p>
                      <a:endParaRPr dirty="0"/>
                    </a:p>
                  </a:txBody>
                  <a:tcPr marL="22089" marR="22089" marT="0" marB="0"/>
                </a:tc>
                <a:extLst>
                  <a:ext uri="{0D108BD9-81ED-4DB2-BD59-A6C34878D82A}">
                    <a16:rowId xmlns:a16="http://schemas.microsoft.com/office/drawing/2014/main" val="1950825281"/>
                  </a:ext>
                </a:extLst>
              </a:tr>
              <a:tr h="120548">
                <a:tc>
                  <a:txBody>
                    <a:bodyPr/>
                    <a:lstStyle/>
                    <a:p>
                      <a:pPr algn="ctr">
                        <a:lnSpc>
                          <a:spcPct val="100000"/>
                        </a:lnSpc>
                        <a:spcBef>
                          <a:spcPts val="0"/>
                        </a:spcBef>
                        <a:spcAft>
                          <a:spcPts val="0"/>
                        </a:spcAft>
                        <a:buNone/>
                      </a:pPr>
                      <a:r>
                        <a:rPr lang="en-IN" sz="1000" b="0" kern="100" dirty="0">
                          <a:effectLst/>
                        </a:rPr>
                        <a:t>1</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Core Philosophy</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Simple electronics prototyping</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Unified embedded systems ecosystem</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757243294"/>
                  </a:ext>
                </a:extLst>
              </a:tr>
              <a:tr h="120548">
                <a:tc>
                  <a:txBody>
                    <a:bodyPr/>
                    <a:lstStyle/>
                    <a:p>
                      <a:pPr algn="ctr">
                        <a:lnSpc>
                          <a:spcPct val="100000"/>
                        </a:lnSpc>
                        <a:spcBef>
                          <a:spcPts val="0"/>
                        </a:spcBef>
                        <a:spcAft>
                          <a:spcPts val="0"/>
                        </a:spcAft>
                        <a:buNone/>
                      </a:pPr>
                      <a:r>
                        <a:rPr lang="en-IN" sz="1000" b="0" kern="100" dirty="0">
                          <a:effectLst/>
                        </a:rPr>
                        <a:t>2</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Primary Focus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Education &amp; makers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Education + Industrial + Research</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3236566945"/>
                  </a:ext>
                </a:extLst>
              </a:tr>
              <a:tr h="0">
                <a:tc>
                  <a:txBody>
                    <a:bodyPr/>
                    <a:lstStyle/>
                    <a:p>
                      <a:pPr algn="ctr">
                        <a:lnSpc>
                          <a:spcPct val="100000"/>
                        </a:lnSpc>
                        <a:spcBef>
                          <a:spcPts val="0"/>
                        </a:spcBef>
                        <a:spcAft>
                          <a:spcPts val="0"/>
                        </a:spcAft>
                        <a:buNone/>
                      </a:pPr>
                      <a:r>
                        <a:rPr lang="en-IN" sz="1000" b="0" kern="100" dirty="0">
                          <a:effectLst/>
                        </a:rPr>
                        <a:t>3</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Ecosystem Style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Microcontroller-centric</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Microcontroller-centric</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1005176697"/>
                  </a:ext>
                </a:extLst>
              </a:tr>
              <a:tr h="0">
                <a:tc>
                  <a:txBody>
                    <a:bodyPr/>
                    <a:lstStyle/>
                    <a:p>
                      <a:pPr algn="ctr">
                        <a:lnSpc>
                          <a:spcPct val="100000"/>
                        </a:lnSpc>
                        <a:spcBef>
                          <a:spcPts val="0"/>
                        </a:spcBef>
                        <a:spcAft>
                          <a:spcPts val="0"/>
                        </a:spcAft>
                        <a:buNone/>
                      </a:pPr>
                      <a:r>
                        <a:rPr lang="en-IN" sz="1000" b="0" kern="100" dirty="0">
                          <a:effectLst/>
                        </a:rPr>
                        <a:t> 4</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Learning Curve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Beginner-friendly</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Beginner to advanced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1309081183"/>
                  </a:ext>
                </a:extLst>
              </a:tr>
              <a:tr h="0">
                <a:tc>
                  <a:txBody>
                    <a:bodyPr/>
                    <a:lstStyle/>
                    <a:p>
                      <a:pPr algn="ctr">
                        <a:lnSpc>
                          <a:spcPct val="100000"/>
                        </a:lnSpc>
                        <a:spcBef>
                          <a:spcPts val="0"/>
                        </a:spcBef>
                        <a:spcAft>
                          <a:spcPts val="0"/>
                        </a:spcAft>
                        <a:buNone/>
                      </a:pPr>
                      <a:r>
                        <a:rPr lang="en-IN" sz="1000" b="0" kern="100" dirty="0">
                          <a:effectLst/>
                        </a:rPr>
                        <a:t> 5</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Scalability</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Moderate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High</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941838795"/>
                  </a:ext>
                </a:extLst>
              </a:tr>
              <a:tr h="0">
                <a:tc>
                  <a:txBody>
                    <a:bodyPr/>
                    <a:lstStyle/>
                    <a:p>
                      <a:pPr algn="ctr">
                        <a:lnSpc>
                          <a:spcPct val="100000"/>
                        </a:lnSpc>
                        <a:spcBef>
                          <a:spcPts val="0"/>
                        </a:spcBef>
                        <a:spcAft>
                          <a:spcPts val="0"/>
                        </a:spcAft>
                        <a:buNone/>
                      </a:pPr>
                      <a:r>
                        <a:rPr lang="en-IN" sz="1000" b="0" kern="100" dirty="0">
                          <a:effectLst/>
                        </a:rPr>
                        <a:t> 6</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Embedded OS Support</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Limited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Native RTOS ecosystem</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3215860713"/>
                  </a:ext>
                </a:extLst>
              </a:tr>
              <a:tr h="0">
                <a:tc>
                  <a:txBody>
                    <a:bodyPr/>
                    <a:lstStyle/>
                    <a:p>
                      <a:pPr algn="ctr">
                        <a:lnSpc>
                          <a:spcPct val="100000"/>
                        </a:lnSpc>
                        <a:spcBef>
                          <a:spcPts val="0"/>
                        </a:spcBef>
                        <a:spcAft>
                          <a:spcPts val="0"/>
                        </a:spcAft>
                        <a:buNone/>
                      </a:pPr>
                      <a:r>
                        <a:rPr lang="en-IN" sz="1000" b="0" kern="100" dirty="0">
                          <a:effectLst/>
                        </a:rPr>
                        <a:t>II</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Bef>
                          <a:spcPts val="0"/>
                        </a:spcBef>
                        <a:spcAft>
                          <a:spcPts val="0"/>
                        </a:spcAft>
                        <a:buNone/>
                      </a:pPr>
                      <a:r>
                        <a:rPr lang="en-IN" sz="1000" b="1" kern="100" dirty="0">
                          <a:effectLst/>
                        </a:rPr>
                        <a:t>Processing Architecture</a:t>
                      </a:r>
                      <a:endParaRPr lang="en-IN" sz="1000" b="1"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6271803"/>
                  </a:ext>
                </a:extLst>
              </a:tr>
              <a:tr h="0">
                <a:tc>
                  <a:txBody>
                    <a:bodyPr/>
                    <a:lstStyle/>
                    <a:p>
                      <a:pPr algn="ctr">
                        <a:lnSpc>
                          <a:spcPct val="100000"/>
                        </a:lnSpc>
                        <a:spcBef>
                          <a:spcPts val="0"/>
                        </a:spcBef>
                        <a:spcAft>
                          <a:spcPts val="0"/>
                        </a:spcAft>
                        <a:buNone/>
                      </a:pPr>
                      <a:r>
                        <a:rPr lang="en-IN" sz="1000" b="0" kern="100" dirty="0">
                          <a:effectLst/>
                        </a:rPr>
                        <a:t> 7</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Typical MCU</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AVR / ARM</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ARM / RISC-V / Multi-core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664201513"/>
                  </a:ext>
                </a:extLst>
              </a:tr>
              <a:tr h="0">
                <a:tc>
                  <a:txBody>
                    <a:bodyPr/>
                    <a:lstStyle/>
                    <a:p>
                      <a:pPr algn="ctr">
                        <a:lnSpc>
                          <a:spcPct val="100000"/>
                        </a:lnSpc>
                        <a:spcBef>
                          <a:spcPts val="0"/>
                        </a:spcBef>
                        <a:spcAft>
                          <a:spcPts val="0"/>
                        </a:spcAft>
                        <a:buNone/>
                      </a:pPr>
                      <a:r>
                        <a:rPr lang="en-IN" sz="1000" b="0" kern="100" dirty="0">
                          <a:effectLst/>
                        </a:rPr>
                        <a:t> 8</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Processing Capability</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Low to medium</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Low - Medium – very high </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2442913565"/>
                  </a:ext>
                </a:extLst>
              </a:tr>
              <a:tr h="0">
                <a:tc>
                  <a:txBody>
                    <a:bodyPr/>
                    <a:lstStyle/>
                    <a:p>
                      <a:pPr algn="ctr">
                        <a:lnSpc>
                          <a:spcPct val="100000"/>
                        </a:lnSpc>
                        <a:spcBef>
                          <a:spcPts val="0"/>
                        </a:spcBef>
                        <a:spcAft>
                          <a:spcPts val="0"/>
                        </a:spcAft>
                        <a:buNone/>
                      </a:pPr>
                      <a:r>
                        <a:rPr lang="en-IN" sz="1000" b="0" kern="100" dirty="0">
                          <a:effectLst/>
                        </a:rPr>
                        <a:t> 9</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Real-Time Capability</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Basic</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Advanced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3691542952"/>
                  </a:ext>
                </a:extLst>
              </a:tr>
              <a:tr h="0">
                <a:tc>
                  <a:txBody>
                    <a:bodyPr/>
                    <a:lstStyle/>
                    <a:p>
                      <a:pPr algn="ctr">
                        <a:lnSpc>
                          <a:spcPct val="100000"/>
                        </a:lnSpc>
                        <a:spcBef>
                          <a:spcPts val="0"/>
                        </a:spcBef>
                        <a:spcAft>
                          <a:spcPts val="0"/>
                        </a:spcAft>
                        <a:buNone/>
                      </a:pPr>
                      <a:r>
                        <a:rPr lang="en-IN" sz="1000" b="0" kern="100" dirty="0">
                          <a:effectLst/>
                        </a:rPr>
                        <a:t> 10</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Multi-core Support</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Limited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Supported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276475217"/>
                  </a:ext>
                </a:extLst>
              </a:tr>
              <a:tr h="0">
                <a:tc>
                  <a:txBody>
                    <a:bodyPr/>
                    <a:lstStyle/>
                    <a:p>
                      <a:pPr algn="ctr">
                        <a:lnSpc>
                          <a:spcPct val="100000"/>
                        </a:lnSpc>
                        <a:spcBef>
                          <a:spcPts val="0"/>
                        </a:spcBef>
                        <a:spcAft>
                          <a:spcPts val="0"/>
                        </a:spcAft>
                        <a:buNone/>
                      </a:pPr>
                      <a:r>
                        <a:rPr lang="en-IN" sz="1000" b="0" kern="100" dirty="0">
                          <a:effectLst/>
                        </a:rPr>
                        <a:t> 11</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AI Acceleration</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Minimal</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Supported / Expandable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1220768331"/>
                  </a:ext>
                </a:extLst>
              </a:tr>
              <a:tr h="0">
                <a:tc>
                  <a:txBody>
                    <a:bodyPr/>
                    <a:lstStyle/>
                    <a:p>
                      <a:pPr algn="ctr">
                        <a:lnSpc>
                          <a:spcPct val="100000"/>
                        </a:lnSpc>
                        <a:spcBef>
                          <a:spcPts val="0"/>
                        </a:spcBef>
                        <a:spcAft>
                          <a:spcPts val="0"/>
                        </a:spcAft>
                        <a:buNone/>
                      </a:pPr>
                      <a:r>
                        <a:rPr lang="en-IN" sz="1000" b="0" kern="100" dirty="0">
                          <a:effectLst/>
                        </a:rPr>
                        <a:t>III</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Bef>
                          <a:spcPts val="0"/>
                        </a:spcBef>
                        <a:spcAft>
                          <a:spcPts val="0"/>
                        </a:spcAft>
                        <a:buNone/>
                      </a:pPr>
                      <a:r>
                        <a:rPr lang="en-IN" sz="1000" b="1" kern="100" dirty="0">
                          <a:effectLst/>
                        </a:rPr>
                        <a:t>Memory &amp; Storage</a:t>
                      </a:r>
                      <a:endParaRPr lang="en-IN" sz="1000" b="1"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58028593"/>
                  </a:ext>
                </a:extLst>
              </a:tr>
              <a:tr h="0">
                <a:tc>
                  <a:txBody>
                    <a:bodyPr/>
                    <a:lstStyle/>
                    <a:p>
                      <a:pPr algn="ctr">
                        <a:lnSpc>
                          <a:spcPct val="100000"/>
                        </a:lnSpc>
                        <a:spcBef>
                          <a:spcPts val="0"/>
                        </a:spcBef>
                        <a:spcAft>
                          <a:spcPts val="0"/>
                        </a:spcAft>
                        <a:buNone/>
                      </a:pPr>
                      <a:r>
                        <a:rPr lang="en-IN" sz="1000" b="0" kern="100" dirty="0">
                          <a:effectLst/>
                        </a:rPr>
                        <a:t> 12</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Flash Memory</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32 KB (Uno)</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MB-scale expandable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3807380273"/>
                  </a:ext>
                </a:extLst>
              </a:tr>
              <a:tr h="0">
                <a:tc>
                  <a:txBody>
                    <a:bodyPr/>
                    <a:lstStyle/>
                    <a:p>
                      <a:pPr algn="ctr">
                        <a:lnSpc>
                          <a:spcPct val="100000"/>
                        </a:lnSpc>
                        <a:spcBef>
                          <a:spcPts val="0"/>
                        </a:spcBef>
                        <a:spcAft>
                          <a:spcPts val="0"/>
                        </a:spcAft>
                        <a:buNone/>
                      </a:pPr>
                      <a:r>
                        <a:rPr lang="en-IN" sz="1000" b="0" kern="100" dirty="0">
                          <a:effectLst/>
                        </a:rPr>
                        <a:t> 13</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SRAM</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2 KB</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Large SRAM support</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3157994845"/>
                  </a:ext>
                </a:extLst>
              </a:tr>
              <a:tr h="0">
                <a:tc>
                  <a:txBody>
                    <a:bodyPr/>
                    <a:lstStyle/>
                    <a:p>
                      <a:pPr algn="ctr">
                        <a:lnSpc>
                          <a:spcPct val="100000"/>
                        </a:lnSpc>
                        <a:spcBef>
                          <a:spcPts val="0"/>
                        </a:spcBef>
                        <a:spcAft>
                          <a:spcPts val="0"/>
                        </a:spcAft>
                        <a:buNone/>
                      </a:pPr>
                      <a:r>
                        <a:rPr lang="en-IN" sz="1000" b="0" kern="100" dirty="0">
                          <a:effectLst/>
                        </a:rPr>
                        <a:t> 14</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External Storage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Limited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Native expansion support</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1042128836"/>
                  </a:ext>
                </a:extLst>
              </a:tr>
              <a:tr h="0">
                <a:tc>
                  <a:txBody>
                    <a:bodyPr/>
                    <a:lstStyle/>
                    <a:p>
                      <a:pPr algn="ctr">
                        <a:lnSpc>
                          <a:spcPct val="100000"/>
                        </a:lnSpc>
                        <a:spcBef>
                          <a:spcPts val="0"/>
                        </a:spcBef>
                        <a:spcAft>
                          <a:spcPts val="0"/>
                        </a:spcAft>
                        <a:buNone/>
                      </a:pPr>
                      <a:r>
                        <a:rPr lang="en-IN" sz="1000" b="0" kern="100" dirty="0">
                          <a:effectLst/>
                        </a:rPr>
                        <a:t> 15</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Filesystem Support</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Minimal</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Advanced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1290015762"/>
                  </a:ext>
                </a:extLst>
              </a:tr>
              <a:tr h="120548">
                <a:tc>
                  <a:txBody>
                    <a:bodyPr/>
                    <a:lstStyle/>
                    <a:p>
                      <a:pPr algn="ctr">
                        <a:lnSpc>
                          <a:spcPct val="100000"/>
                        </a:lnSpc>
                        <a:spcBef>
                          <a:spcPts val="0"/>
                        </a:spcBef>
                        <a:spcAft>
                          <a:spcPts val="0"/>
                        </a:spcAft>
                        <a:buNone/>
                      </a:pPr>
                      <a:r>
                        <a:rPr lang="en-IN" sz="1000" b="0" kern="100" dirty="0">
                          <a:effectLst/>
                        </a:rPr>
                        <a:t>IV</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Bef>
                          <a:spcPts val="0"/>
                        </a:spcBef>
                        <a:spcAft>
                          <a:spcPts val="0"/>
                        </a:spcAft>
                        <a:buNone/>
                      </a:pPr>
                      <a:r>
                        <a:rPr lang="en-IN" sz="1000" b="1" kern="100" dirty="0">
                          <a:effectLst/>
                        </a:rPr>
                        <a:t>Programming Languages and IDE</a:t>
                      </a:r>
                      <a:endParaRPr lang="en-IN" sz="1000" b="1"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hMerge="1">
                  <a:txBody>
                    <a:bodyPr/>
                    <a:lstStyle/>
                    <a:p>
                      <a:endParaRPr/>
                    </a:p>
                  </a:txBody>
                  <a:tcPr marL="22089" marR="22089" marT="0" marB="0" anchor="ctr"/>
                </a:tc>
                <a:tc hMerge="1">
                  <a:txBody>
                    <a:bodyPr/>
                    <a:lstStyle/>
                    <a:p>
                      <a:endParaRPr dirty="0"/>
                    </a:p>
                  </a:txBody>
                  <a:tcPr marL="22089" marR="22089" marT="0" marB="0" anchor="ctr"/>
                </a:tc>
                <a:extLst>
                  <a:ext uri="{0D108BD9-81ED-4DB2-BD59-A6C34878D82A}">
                    <a16:rowId xmlns:a16="http://schemas.microsoft.com/office/drawing/2014/main" val="3992304726"/>
                  </a:ext>
                </a:extLst>
              </a:tr>
              <a:tr h="0">
                <a:tc>
                  <a:txBody>
                    <a:bodyPr/>
                    <a:lstStyle/>
                    <a:p>
                      <a:pPr algn="ctr">
                        <a:lnSpc>
                          <a:spcPct val="100000"/>
                        </a:lnSpc>
                        <a:spcBef>
                          <a:spcPts val="0"/>
                        </a:spcBef>
                        <a:spcAft>
                          <a:spcPts val="0"/>
                        </a:spcAft>
                        <a:buNone/>
                      </a:pPr>
                      <a:r>
                        <a:rPr lang="en-IN" sz="1000" b="0" kern="100" dirty="0">
                          <a:effectLst/>
                        </a:rPr>
                        <a:t> 16</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Arduino Framework</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Yes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Yes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133198820"/>
                  </a:ext>
                </a:extLst>
              </a:tr>
              <a:tr h="0">
                <a:tc>
                  <a:txBody>
                    <a:bodyPr/>
                    <a:lstStyle/>
                    <a:p>
                      <a:pPr algn="ctr">
                        <a:lnSpc>
                          <a:spcPct val="100000"/>
                        </a:lnSpc>
                        <a:spcBef>
                          <a:spcPts val="0"/>
                        </a:spcBef>
                        <a:spcAft>
                          <a:spcPts val="0"/>
                        </a:spcAft>
                        <a:buNone/>
                      </a:pPr>
                      <a:r>
                        <a:rPr lang="en-IN" sz="1000" b="0" kern="100" dirty="0">
                          <a:effectLst/>
                        </a:rPr>
                        <a:t> 17</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C</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Yes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tc>
                  <a:txBody>
                    <a:bodyPr/>
                    <a:lstStyle/>
                    <a:p>
                      <a:pPr>
                        <a:lnSpc>
                          <a:spcPct val="100000"/>
                        </a:lnSpc>
                        <a:spcBef>
                          <a:spcPts val="0"/>
                        </a:spcBef>
                        <a:spcAft>
                          <a:spcPts val="0"/>
                        </a:spcAft>
                        <a:buNone/>
                      </a:pPr>
                      <a:r>
                        <a:rPr lang="en-IN" sz="1000" kern="100" dirty="0">
                          <a:effectLst/>
                        </a:rPr>
                        <a:t>Yes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nchor="ctr"/>
                </a:tc>
                <a:extLst>
                  <a:ext uri="{0D108BD9-81ED-4DB2-BD59-A6C34878D82A}">
                    <a16:rowId xmlns:a16="http://schemas.microsoft.com/office/drawing/2014/main" val="2002474639"/>
                  </a:ext>
                </a:extLst>
              </a:tr>
              <a:tr h="0">
                <a:tc>
                  <a:txBody>
                    <a:bodyPr/>
                    <a:lstStyle/>
                    <a:p>
                      <a:pPr algn="ctr">
                        <a:lnSpc>
                          <a:spcPct val="100000"/>
                        </a:lnSpc>
                        <a:spcBef>
                          <a:spcPts val="0"/>
                        </a:spcBef>
                        <a:spcAft>
                          <a:spcPts val="0"/>
                        </a:spcAft>
                        <a:buNone/>
                      </a:pPr>
                      <a:r>
                        <a:rPr lang="en-IN" sz="1000" b="0" kern="100" dirty="0">
                          <a:effectLst/>
                        </a:rPr>
                        <a:t> 18</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C++</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Yes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Yes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322742261"/>
                  </a:ext>
                </a:extLst>
              </a:tr>
              <a:tr h="0">
                <a:tc>
                  <a:txBody>
                    <a:bodyPr/>
                    <a:lstStyle/>
                    <a:p>
                      <a:pPr algn="ctr">
                        <a:lnSpc>
                          <a:spcPct val="100000"/>
                        </a:lnSpc>
                        <a:spcBef>
                          <a:spcPts val="0"/>
                        </a:spcBef>
                        <a:spcAft>
                          <a:spcPts val="0"/>
                        </a:spcAft>
                        <a:buNone/>
                      </a:pPr>
                      <a:r>
                        <a:rPr lang="en-IN" sz="1000" b="0" kern="100" dirty="0">
                          <a:effectLst/>
                        </a:rPr>
                        <a:t> 19</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MicroPython</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Limited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Native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365173765"/>
                  </a:ext>
                </a:extLst>
              </a:tr>
              <a:tr h="0">
                <a:tc>
                  <a:txBody>
                    <a:bodyPr/>
                    <a:lstStyle/>
                    <a:p>
                      <a:pPr algn="ctr">
                        <a:lnSpc>
                          <a:spcPct val="100000"/>
                        </a:lnSpc>
                        <a:spcBef>
                          <a:spcPts val="0"/>
                        </a:spcBef>
                        <a:spcAft>
                          <a:spcPts val="0"/>
                        </a:spcAft>
                        <a:buNone/>
                      </a:pPr>
                      <a:r>
                        <a:rPr lang="en-IN" sz="1000" b="0" kern="100" dirty="0">
                          <a:effectLst/>
                        </a:rPr>
                        <a:t> 20</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FreeRTOS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Partial</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Native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3806830435"/>
                  </a:ext>
                </a:extLst>
              </a:tr>
              <a:tr h="0">
                <a:tc>
                  <a:txBody>
                    <a:bodyPr/>
                    <a:lstStyle/>
                    <a:p>
                      <a:pPr algn="ctr">
                        <a:lnSpc>
                          <a:spcPct val="100000"/>
                        </a:lnSpc>
                        <a:spcBef>
                          <a:spcPts val="0"/>
                        </a:spcBef>
                        <a:spcAft>
                          <a:spcPts val="0"/>
                        </a:spcAft>
                        <a:buNone/>
                      </a:pPr>
                      <a:r>
                        <a:rPr lang="en-IN" sz="1000" b="0" kern="100" dirty="0">
                          <a:effectLst/>
                        </a:rPr>
                        <a:t> 21</a:t>
                      </a:r>
                      <a:endParaRPr lang="en-IN" sz="1000" b="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Zephyr RTOS</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Rare</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Bef>
                          <a:spcPts val="0"/>
                        </a:spcBef>
                        <a:spcAft>
                          <a:spcPts val="0"/>
                        </a:spcAft>
                        <a:buNone/>
                      </a:pPr>
                      <a:r>
                        <a:rPr lang="en-IN" sz="1000" kern="100" dirty="0">
                          <a:effectLst/>
                        </a:rPr>
                        <a:t>Fully supported</a:t>
                      </a:r>
                      <a:endParaRPr lang="en-IN"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4134371888"/>
                  </a:ext>
                </a:extLst>
              </a:tr>
            </a:tbl>
          </a:graphicData>
        </a:graphic>
      </p:graphicFrame>
      <p:graphicFrame>
        <p:nvGraphicFramePr>
          <p:cNvPr id="5" name="Table 4">
            <a:extLst>
              <a:ext uri="{FF2B5EF4-FFF2-40B4-BE49-F238E27FC236}">
                <a16:creationId xmlns:a16="http://schemas.microsoft.com/office/drawing/2014/main" id="{CF115077-FEB9-83F8-345B-0795A8087486}"/>
              </a:ext>
            </a:extLst>
          </p:cNvPr>
          <p:cNvGraphicFramePr>
            <a:graphicFrameLocks noGrp="1"/>
          </p:cNvGraphicFramePr>
          <p:nvPr>
            <p:extLst>
              <p:ext uri="{D42A27DB-BD31-4B8C-83A1-F6EECF244321}">
                <p14:modId xmlns:p14="http://schemas.microsoft.com/office/powerpoint/2010/main" val="962759832"/>
              </p:ext>
            </p:extLst>
          </p:nvPr>
        </p:nvGraphicFramePr>
        <p:xfrm>
          <a:off x="5040791" y="333439"/>
          <a:ext cx="4825454" cy="5663993"/>
        </p:xfrm>
        <a:graphic>
          <a:graphicData uri="http://schemas.openxmlformats.org/drawingml/2006/table">
            <a:tbl>
              <a:tblPr firstRow="1" firstCol="1" bandRow="1">
                <a:tableStyleId>{5C22544A-7EE6-4342-B048-85BDC9FD1C3A}</a:tableStyleId>
              </a:tblPr>
              <a:tblGrid>
                <a:gridCol w="311673">
                  <a:extLst>
                    <a:ext uri="{9D8B030D-6E8A-4147-A177-3AD203B41FA5}">
                      <a16:colId xmlns:a16="http://schemas.microsoft.com/office/drawing/2014/main" val="2557252455"/>
                    </a:ext>
                  </a:extLst>
                </a:gridCol>
                <a:gridCol w="1316650">
                  <a:extLst>
                    <a:ext uri="{9D8B030D-6E8A-4147-A177-3AD203B41FA5}">
                      <a16:colId xmlns:a16="http://schemas.microsoft.com/office/drawing/2014/main" val="2862132050"/>
                    </a:ext>
                  </a:extLst>
                </a:gridCol>
                <a:gridCol w="1554190">
                  <a:extLst>
                    <a:ext uri="{9D8B030D-6E8A-4147-A177-3AD203B41FA5}">
                      <a16:colId xmlns:a16="http://schemas.microsoft.com/office/drawing/2014/main" val="4026427659"/>
                    </a:ext>
                  </a:extLst>
                </a:gridCol>
                <a:gridCol w="1642941">
                  <a:extLst>
                    <a:ext uri="{9D8B030D-6E8A-4147-A177-3AD203B41FA5}">
                      <a16:colId xmlns:a16="http://schemas.microsoft.com/office/drawing/2014/main" val="3930437932"/>
                    </a:ext>
                  </a:extLst>
                </a:gridCol>
              </a:tblGrid>
              <a:tr h="58454">
                <a:tc>
                  <a:txBody>
                    <a:bodyPr/>
                    <a:lstStyle/>
                    <a:p>
                      <a:pPr algn="ctr">
                        <a:lnSpc>
                          <a:spcPct val="115000"/>
                        </a:lnSpc>
                        <a:spcAft>
                          <a:spcPts val="1000"/>
                        </a:spcAft>
                        <a:buNone/>
                      </a:pPr>
                      <a:r>
                        <a:rPr lang="en-IN" sz="1200" kern="100" dirty="0">
                          <a:effectLst/>
                        </a:rPr>
                        <a:t> </a:t>
                      </a:r>
                      <a:endParaRPr lang="en-IN"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22089" marR="22089" marT="0" marB="0"/>
                </a:tc>
                <a:tc>
                  <a:txBody>
                    <a:bodyPr/>
                    <a:lstStyle/>
                    <a:p>
                      <a:pPr algn="ctr">
                        <a:lnSpc>
                          <a:spcPct val="115000"/>
                        </a:lnSpc>
                        <a:spcAft>
                          <a:spcPts val="1000"/>
                        </a:spcAft>
                        <a:buNone/>
                      </a:pPr>
                      <a:r>
                        <a:rPr lang="en-IN" sz="1200" kern="100" dirty="0">
                          <a:effectLst/>
                        </a:rPr>
                        <a:t>Aspect</a:t>
                      </a:r>
                      <a:endParaRPr lang="en-IN"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22089" marR="22089" marT="0" marB="0"/>
                </a:tc>
                <a:tc>
                  <a:txBody>
                    <a:bodyPr/>
                    <a:lstStyle/>
                    <a:p>
                      <a:pPr algn="ctr">
                        <a:lnSpc>
                          <a:spcPct val="115000"/>
                        </a:lnSpc>
                        <a:spcAft>
                          <a:spcPts val="1000"/>
                        </a:spcAft>
                        <a:buNone/>
                      </a:pPr>
                      <a:r>
                        <a:rPr lang="en-IN" sz="1200" kern="100" dirty="0">
                          <a:effectLst/>
                        </a:rPr>
                        <a:t>Arduino</a:t>
                      </a:r>
                      <a:endParaRPr lang="en-IN"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22089" marR="22089" marT="0" marB="0"/>
                </a:tc>
                <a:tc>
                  <a:txBody>
                    <a:bodyPr/>
                    <a:lstStyle/>
                    <a:p>
                      <a:pPr algn="ctr">
                        <a:lnSpc>
                          <a:spcPct val="115000"/>
                        </a:lnSpc>
                        <a:spcAft>
                          <a:spcPts val="1000"/>
                        </a:spcAft>
                        <a:buNone/>
                      </a:pPr>
                      <a:r>
                        <a:rPr lang="en-IN" sz="1200" kern="100" dirty="0">
                          <a:effectLst/>
                        </a:rPr>
                        <a:t>Advayam</a:t>
                      </a:r>
                      <a:endParaRPr lang="en-IN" sz="1200" dirty="0">
                        <a:effectLst/>
                        <a:latin typeface="Calibri" panose="020F0502020204030204" pitchFamily="34" charset="0"/>
                        <a:ea typeface="SimSun" panose="02010600030101010101" pitchFamily="2" charset="-122"/>
                        <a:cs typeface="Times New Roman" panose="02020603050405020304" pitchFamily="18" charset="0"/>
                      </a:endParaRPr>
                    </a:p>
                  </a:txBody>
                  <a:tcPr marL="22089" marR="22089" marT="0" marB="0"/>
                </a:tc>
                <a:extLst>
                  <a:ext uri="{0D108BD9-81ED-4DB2-BD59-A6C34878D82A}">
                    <a16:rowId xmlns:a16="http://schemas.microsoft.com/office/drawing/2014/main" val="3443433862"/>
                  </a:ext>
                </a:extLst>
              </a:tr>
              <a:tr h="0">
                <a:tc>
                  <a:txBody>
                    <a:bodyPr/>
                    <a:lstStyle/>
                    <a:p>
                      <a:pPr algn="ctr">
                        <a:lnSpc>
                          <a:spcPct val="100000"/>
                        </a:lnSpc>
                        <a:spcAft>
                          <a:spcPts val="0"/>
                        </a:spcAft>
                        <a:buNone/>
                      </a:pPr>
                      <a:r>
                        <a:rPr lang="en-IN" sz="1000" b="0" kern="100" dirty="0">
                          <a:effectLst/>
                          <a:latin typeface="+mn-lt"/>
                        </a:rPr>
                        <a:t>V</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Aft>
                          <a:spcPts val="0"/>
                        </a:spcAft>
                        <a:buNone/>
                      </a:pPr>
                      <a:r>
                        <a:rPr lang="en-IN" sz="1000" b="1" kern="100" dirty="0">
                          <a:effectLst/>
                          <a:latin typeface="+mn-lt"/>
                        </a:rPr>
                        <a:t>RTOS Capability</a:t>
                      </a:r>
                      <a:endParaRPr lang="en-IN" sz="1000" b="1" dirty="0">
                        <a:effectLst/>
                        <a:latin typeface="+mn-lt"/>
                        <a:ea typeface="SimSun" panose="02010600030101010101" pitchFamily="2" charset="-122"/>
                        <a:cs typeface="Times New Roman" panose="02020603050405020304" pitchFamily="18" charset="0"/>
                      </a:endParaRPr>
                    </a:p>
                  </a:txBody>
                  <a:tcPr marL="36000" marR="22089" marT="36000" marB="3600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45546460"/>
                  </a:ext>
                </a:extLst>
              </a:tr>
              <a:tr h="0">
                <a:tc>
                  <a:txBody>
                    <a:bodyPr/>
                    <a:lstStyle/>
                    <a:p>
                      <a:pPr algn="ctr">
                        <a:lnSpc>
                          <a:spcPct val="100000"/>
                        </a:lnSpc>
                        <a:spcAft>
                          <a:spcPts val="0"/>
                        </a:spcAft>
                        <a:buNone/>
                      </a:pPr>
                      <a:r>
                        <a:rPr lang="en-IN" sz="1000" b="0" kern="100" dirty="0">
                          <a:effectLst/>
                          <a:latin typeface="+mn-lt"/>
                        </a:rPr>
                        <a:t> 22</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Native RTOS Support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Minimal</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Native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916144919"/>
                  </a:ext>
                </a:extLst>
              </a:tr>
              <a:tr h="0">
                <a:tc>
                  <a:txBody>
                    <a:bodyPr/>
                    <a:lstStyle/>
                    <a:p>
                      <a:pPr algn="ctr">
                        <a:lnSpc>
                          <a:spcPct val="100000"/>
                        </a:lnSpc>
                        <a:spcAft>
                          <a:spcPts val="0"/>
                        </a:spcAft>
                        <a:buNone/>
                      </a:pPr>
                      <a:r>
                        <a:rPr lang="en-IN" sz="1000" b="0" kern="100" dirty="0">
                          <a:effectLst/>
                          <a:latin typeface="+mn-lt"/>
                        </a:rPr>
                        <a:t> 23</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Task Scheduling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Limited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Advanced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3527887781"/>
                  </a:ext>
                </a:extLst>
              </a:tr>
              <a:tr h="120548">
                <a:tc>
                  <a:txBody>
                    <a:bodyPr/>
                    <a:lstStyle/>
                    <a:p>
                      <a:pPr algn="ctr">
                        <a:lnSpc>
                          <a:spcPct val="100000"/>
                        </a:lnSpc>
                        <a:spcAft>
                          <a:spcPts val="0"/>
                        </a:spcAft>
                        <a:buNone/>
                      </a:pPr>
                      <a:r>
                        <a:rPr lang="en-IN" sz="1000" b="0" kern="100" dirty="0">
                          <a:effectLst/>
                          <a:latin typeface="+mn-lt"/>
                        </a:rPr>
                        <a:t> 24</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Industrial Automation Ready</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Limited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Yes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038026215"/>
                  </a:ext>
                </a:extLst>
              </a:tr>
              <a:tr h="0">
                <a:tc>
                  <a:txBody>
                    <a:bodyPr/>
                    <a:lstStyle/>
                    <a:p>
                      <a:pPr algn="ctr">
                        <a:lnSpc>
                          <a:spcPct val="100000"/>
                        </a:lnSpc>
                        <a:spcAft>
                          <a:spcPts val="0"/>
                        </a:spcAft>
                        <a:buNone/>
                      </a:pPr>
                      <a:r>
                        <a:rPr lang="en-IN" sz="1000" b="0" kern="100" dirty="0">
                          <a:effectLst/>
                          <a:latin typeface="+mn-lt"/>
                        </a:rPr>
                        <a:t>VI</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Aft>
                          <a:spcPts val="0"/>
                        </a:spcAft>
                        <a:buNone/>
                      </a:pPr>
                      <a:r>
                        <a:rPr lang="en-IN" sz="1000" b="1" kern="100" dirty="0">
                          <a:effectLst/>
                          <a:latin typeface="+mn-lt"/>
                        </a:rPr>
                        <a:t>Learning Model</a:t>
                      </a:r>
                      <a:endParaRPr lang="en-IN" sz="1000" b="1" dirty="0">
                        <a:effectLst/>
                        <a:latin typeface="+mn-lt"/>
                        <a:ea typeface="SimSun" panose="02010600030101010101" pitchFamily="2" charset="-122"/>
                        <a:cs typeface="Times New Roman" panose="02020603050405020304" pitchFamily="18" charset="0"/>
                      </a:endParaRPr>
                    </a:p>
                  </a:txBody>
                  <a:tcPr marL="36000" marR="22089" marT="36000" marB="3600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64331679"/>
                  </a:ext>
                </a:extLst>
              </a:tr>
              <a:tr h="0">
                <a:tc>
                  <a:txBody>
                    <a:bodyPr/>
                    <a:lstStyle/>
                    <a:p>
                      <a:pPr algn="ctr">
                        <a:lnSpc>
                          <a:spcPct val="100000"/>
                        </a:lnSpc>
                        <a:spcAft>
                          <a:spcPts val="0"/>
                        </a:spcAft>
                        <a:buNone/>
                      </a:pPr>
                      <a:r>
                        <a:rPr lang="en-IN" sz="1000" b="0" kern="100" dirty="0">
                          <a:effectLst/>
                          <a:latin typeface="+mn-lt"/>
                        </a:rPr>
                        <a:t> 25</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Beginner Friendly</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Excellent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Excellent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038056381"/>
                  </a:ext>
                </a:extLst>
              </a:tr>
              <a:tr h="120548">
                <a:tc>
                  <a:txBody>
                    <a:bodyPr/>
                    <a:lstStyle/>
                    <a:p>
                      <a:pPr algn="ctr">
                        <a:lnSpc>
                          <a:spcPct val="100000"/>
                        </a:lnSpc>
                        <a:spcAft>
                          <a:spcPts val="0"/>
                        </a:spcAft>
                        <a:buNone/>
                      </a:pPr>
                      <a:r>
                        <a:rPr lang="en-IN" sz="1000" b="0" kern="100" dirty="0">
                          <a:effectLst/>
                          <a:latin typeface="+mn-lt"/>
                        </a:rPr>
                        <a:t> 26</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Advanced Embedded Learning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Moderate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Extensive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3938224938"/>
                  </a:ext>
                </a:extLst>
              </a:tr>
              <a:tr h="0">
                <a:tc>
                  <a:txBody>
                    <a:bodyPr/>
                    <a:lstStyle/>
                    <a:p>
                      <a:pPr algn="ctr">
                        <a:lnSpc>
                          <a:spcPct val="100000"/>
                        </a:lnSpc>
                        <a:spcAft>
                          <a:spcPts val="0"/>
                        </a:spcAft>
                        <a:buNone/>
                      </a:pPr>
                      <a:r>
                        <a:rPr lang="en-IN" sz="1000" b="0" kern="100" dirty="0">
                          <a:effectLst/>
                          <a:latin typeface="+mn-lt"/>
                        </a:rPr>
                        <a:t> 27</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RTOS Education</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Limited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Strong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254461668"/>
                  </a:ext>
                </a:extLst>
              </a:tr>
              <a:tr h="0">
                <a:tc>
                  <a:txBody>
                    <a:bodyPr/>
                    <a:lstStyle/>
                    <a:p>
                      <a:pPr algn="ctr">
                        <a:lnSpc>
                          <a:spcPct val="100000"/>
                        </a:lnSpc>
                        <a:spcAft>
                          <a:spcPts val="0"/>
                        </a:spcAft>
                        <a:buNone/>
                      </a:pPr>
                      <a:r>
                        <a:rPr lang="en-IN" sz="1000" b="0" kern="100" dirty="0">
                          <a:effectLst/>
                          <a:latin typeface="+mn-lt"/>
                        </a:rPr>
                        <a:t> 28</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IoT Education</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Moderate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Advanced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3259497547"/>
                  </a:ext>
                </a:extLst>
              </a:tr>
              <a:tr h="0">
                <a:tc>
                  <a:txBody>
                    <a:bodyPr/>
                    <a:lstStyle/>
                    <a:p>
                      <a:pPr algn="ctr">
                        <a:lnSpc>
                          <a:spcPct val="100000"/>
                        </a:lnSpc>
                        <a:spcAft>
                          <a:spcPts val="0"/>
                        </a:spcAft>
                        <a:buNone/>
                      </a:pPr>
                      <a:r>
                        <a:rPr lang="en-IN" sz="1000" b="0" kern="100" dirty="0">
                          <a:effectLst/>
                          <a:latin typeface="+mn-lt"/>
                        </a:rPr>
                        <a:t> 29</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AI Edge Learning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Limited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Supported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997882058"/>
                  </a:ext>
                </a:extLst>
              </a:tr>
              <a:tr h="0">
                <a:tc>
                  <a:txBody>
                    <a:bodyPr/>
                    <a:lstStyle/>
                    <a:p>
                      <a:pPr algn="ctr">
                        <a:lnSpc>
                          <a:spcPct val="100000"/>
                        </a:lnSpc>
                        <a:spcAft>
                          <a:spcPts val="0"/>
                        </a:spcAft>
                        <a:buNone/>
                      </a:pPr>
                      <a:r>
                        <a:rPr lang="en-IN" sz="1000" b="0" kern="100" dirty="0">
                          <a:effectLst/>
                          <a:latin typeface="+mn-lt"/>
                        </a:rPr>
                        <a:t>VII</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Aft>
                          <a:spcPts val="0"/>
                        </a:spcAft>
                        <a:buNone/>
                      </a:pPr>
                      <a:r>
                        <a:rPr lang="en-IN" sz="1000" b="1" kern="100" dirty="0">
                          <a:effectLst/>
                          <a:latin typeface="+mn-lt"/>
                        </a:rPr>
                        <a:t>Community &amp; Ecosystem</a:t>
                      </a:r>
                      <a:endParaRPr lang="en-IN" sz="1000" b="1" dirty="0">
                        <a:effectLst/>
                        <a:latin typeface="+mn-lt"/>
                        <a:ea typeface="SimSun" panose="02010600030101010101" pitchFamily="2" charset="-122"/>
                        <a:cs typeface="Times New Roman" panose="02020603050405020304" pitchFamily="18" charset="0"/>
                      </a:endParaRPr>
                    </a:p>
                  </a:txBody>
                  <a:tcPr marL="36000" marR="22089" marT="36000" marB="3600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84040640"/>
                  </a:ext>
                </a:extLst>
              </a:tr>
              <a:tr h="0">
                <a:tc>
                  <a:txBody>
                    <a:bodyPr/>
                    <a:lstStyle/>
                    <a:p>
                      <a:pPr algn="ctr">
                        <a:lnSpc>
                          <a:spcPct val="100000"/>
                        </a:lnSpc>
                        <a:spcAft>
                          <a:spcPts val="0"/>
                        </a:spcAft>
                        <a:buNone/>
                      </a:pPr>
                      <a:r>
                        <a:rPr lang="en-IN" sz="1000" b="0" kern="100" dirty="0">
                          <a:effectLst/>
                          <a:latin typeface="+mn-lt"/>
                        </a:rPr>
                        <a:t> 30</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Global Community</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Massive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Emerging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335150219"/>
                  </a:ext>
                </a:extLst>
              </a:tr>
              <a:tr h="0">
                <a:tc>
                  <a:txBody>
                    <a:bodyPr/>
                    <a:lstStyle/>
                    <a:p>
                      <a:pPr algn="ctr">
                        <a:lnSpc>
                          <a:spcPct val="100000"/>
                        </a:lnSpc>
                        <a:spcAft>
                          <a:spcPts val="0"/>
                        </a:spcAft>
                        <a:buNone/>
                      </a:pPr>
                      <a:r>
                        <a:rPr lang="en-IN" sz="1000" b="0" kern="100" dirty="0">
                          <a:effectLst/>
                          <a:latin typeface="+mn-lt"/>
                        </a:rPr>
                        <a:t> 31</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Open-source Libraries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Extensive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Planned/Open</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2330722363"/>
                  </a:ext>
                </a:extLst>
              </a:tr>
              <a:tr h="0">
                <a:tc>
                  <a:txBody>
                    <a:bodyPr/>
                    <a:lstStyle/>
                    <a:p>
                      <a:pPr algn="ctr">
                        <a:lnSpc>
                          <a:spcPct val="100000"/>
                        </a:lnSpc>
                        <a:spcAft>
                          <a:spcPts val="0"/>
                        </a:spcAft>
                        <a:buNone/>
                      </a:pPr>
                      <a:r>
                        <a:rPr lang="en-IN" sz="1000" b="0" kern="100" dirty="0">
                          <a:effectLst/>
                          <a:latin typeface="+mn-lt"/>
                        </a:rPr>
                        <a:t> 32</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Educational Resources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Extensive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Expandable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3450318931"/>
                  </a:ext>
                </a:extLst>
              </a:tr>
              <a:tr h="0">
                <a:tc>
                  <a:txBody>
                    <a:bodyPr/>
                    <a:lstStyle/>
                    <a:p>
                      <a:pPr algn="ctr">
                        <a:lnSpc>
                          <a:spcPct val="100000"/>
                        </a:lnSpc>
                        <a:spcAft>
                          <a:spcPts val="0"/>
                        </a:spcAft>
                        <a:buNone/>
                      </a:pPr>
                      <a:r>
                        <a:rPr lang="en-IN" sz="1000" b="0" kern="100" dirty="0">
                          <a:effectLst/>
                          <a:latin typeface="+mn-lt"/>
                        </a:rPr>
                        <a:t> 33</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Industrial SDKs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Limited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Planned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2618723302"/>
                  </a:ext>
                </a:extLst>
              </a:tr>
              <a:tr h="0">
                <a:tc>
                  <a:txBody>
                    <a:bodyPr/>
                    <a:lstStyle/>
                    <a:p>
                      <a:pPr algn="ctr">
                        <a:lnSpc>
                          <a:spcPct val="100000"/>
                        </a:lnSpc>
                        <a:spcAft>
                          <a:spcPts val="0"/>
                        </a:spcAft>
                        <a:buNone/>
                      </a:pPr>
                      <a:r>
                        <a:rPr lang="en-US" sz="1000" b="0" dirty="0">
                          <a:effectLst/>
                          <a:latin typeface="+mn-lt"/>
                          <a:ea typeface="SimSun" panose="02010600030101010101" pitchFamily="2" charset="-122"/>
                          <a:cs typeface="Times New Roman" panose="02020603050405020304" pitchFamily="18" charset="0"/>
                        </a:rPr>
                        <a:t>VIII</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gridSpan="3">
                  <a:txBody>
                    <a:bodyPr/>
                    <a:lstStyle/>
                    <a:p>
                      <a:pPr>
                        <a:lnSpc>
                          <a:spcPct val="100000"/>
                        </a:lnSpc>
                        <a:spcAft>
                          <a:spcPts val="0"/>
                        </a:spcAft>
                        <a:buNone/>
                      </a:pPr>
                      <a:r>
                        <a:rPr lang="en-IN" sz="1000" b="1" kern="100" dirty="0">
                          <a:effectLst/>
                          <a:latin typeface="+mn-lt"/>
                        </a:rPr>
                        <a:t>Use Case Comparison</a:t>
                      </a:r>
                      <a:endParaRPr lang="en-IN" sz="1000" b="1" dirty="0">
                        <a:effectLst/>
                        <a:latin typeface="+mn-lt"/>
                        <a:ea typeface="SimSun" panose="02010600030101010101" pitchFamily="2" charset="-122"/>
                        <a:cs typeface="Times New Roman" panose="02020603050405020304" pitchFamily="18" charset="0"/>
                      </a:endParaRPr>
                    </a:p>
                  </a:txBody>
                  <a:tcPr marL="36000" marR="22089" marT="36000" marB="3600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091546219"/>
                  </a:ext>
                </a:extLst>
              </a:tr>
              <a:tr h="0">
                <a:tc>
                  <a:txBody>
                    <a:bodyPr/>
                    <a:lstStyle/>
                    <a:p>
                      <a:pPr algn="ctr">
                        <a:lnSpc>
                          <a:spcPct val="100000"/>
                        </a:lnSpc>
                        <a:spcAft>
                          <a:spcPts val="0"/>
                        </a:spcAft>
                        <a:buNone/>
                      </a:pPr>
                      <a:r>
                        <a:rPr lang="en-IN" sz="1000" b="0" kern="100" dirty="0">
                          <a:effectLst/>
                          <a:latin typeface="+mn-lt"/>
                        </a:rPr>
                        <a:t> 34</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STEM Education</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Excellent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Excellent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863268036"/>
                  </a:ext>
                </a:extLst>
              </a:tr>
              <a:tr h="0">
                <a:tc>
                  <a:txBody>
                    <a:bodyPr/>
                    <a:lstStyle/>
                    <a:p>
                      <a:pPr algn="ctr">
                        <a:lnSpc>
                          <a:spcPct val="100000"/>
                        </a:lnSpc>
                        <a:spcAft>
                          <a:spcPts val="0"/>
                        </a:spcAft>
                        <a:buNone/>
                      </a:pPr>
                      <a:r>
                        <a:rPr lang="en-IN" sz="1000" b="0" kern="100" dirty="0">
                          <a:effectLst/>
                          <a:latin typeface="+mn-lt"/>
                        </a:rPr>
                        <a:t> 35</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Smart IoT Devices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Moderate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Excellent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3170045749"/>
                  </a:ext>
                </a:extLst>
              </a:tr>
              <a:tr h="0">
                <a:tc>
                  <a:txBody>
                    <a:bodyPr/>
                    <a:lstStyle/>
                    <a:p>
                      <a:pPr algn="ctr">
                        <a:lnSpc>
                          <a:spcPct val="100000"/>
                        </a:lnSpc>
                        <a:spcAft>
                          <a:spcPts val="0"/>
                        </a:spcAft>
                        <a:buNone/>
                      </a:pPr>
                      <a:r>
                        <a:rPr lang="en-IN" sz="1000" b="0" kern="100" dirty="0">
                          <a:effectLst/>
                          <a:latin typeface="+mn-lt"/>
                        </a:rPr>
                        <a:t> 36</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Industrial Automation</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Limited</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Strong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895653345"/>
                  </a:ext>
                </a:extLst>
              </a:tr>
              <a:tr h="0">
                <a:tc>
                  <a:txBody>
                    <a:bodyPr/>
                    <a:lstStyle/>
                    <a:p>
                      <a:pPr algn="ctr">
                        <a:lnSpc>
                          <a:spcPct val="100000"/>
                        </a:lnSpc>
                        <a:spcAft>
                          <a:spcPts val="0"/>
                        </a:spcAft>
                        <a:buNone/>
                      </a:pPr>
                      <a:r>
                        <a:rPr lang="en-IN" sz="1000" b="0" kern="100" dirty="0">
                          <a:effectLst/>
                          <a:latin typeface="+mn-lt"/>
                        </a:rPr>
                        <a:t> 37</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Robotics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Moderate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Strong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2685183317"/>
                  </a:ext>
                </a:extLst>
              </a:tr>
              <a:tr h="0">
                <a:tc>
                  <a:txBody>
                    <a:bodyPr/>
                    <a:lstStyle/>
                    <a:p>
                      <a:pPr algn="ctr">
                        <a:lnSpc>
                          <a:spcPct val="100000"/>
                        </a:lnSpc>
                        <a:spcAft>
                          <a:spcPts val="0"/>
                        </a:spcAft>
                        <a:buNone/>
                      </a:pPr>
                      <a:r>
                        <a:rPr lang="en-IN" sz="1000" b="0" kern="100" dirty="0">
                          <a:effectLst/>
                          <a:latin typeface="+mn-lt"/>
                        </a:rPr>
                        <a:t> 38</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AI Edge Devices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Weak</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Strong</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966954645"/>
                  </a:ext>
                </a:extLst>
              </a:tr>
              <a:tr h="0">
                <a:tc>
                  <a:txBody>
                    <a:bodyPr/>
                    <a:lstStyle/>
                    <a:p>
                      <a:pPr algn="ctr">
                        <a:lnSpc>
                          <a:spcPct val="100000"/>
                        </a:lnSpc>
                        <a:spcAft>
                          <a:spcPts val="0"/>
                        </a:spcAft>
                        <a:buNone/>
                      </a:pPr>
                      <a:r>
                        <a:rPr lang="en-IN" sz="1000" b="0" kern="100" dirty="0">
                          <a:effectLst/>
                          <a:latin typeface="+mn-lt"/>
                        </a:rPr>
                        <a:t> 39</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Research Platforms</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Moderate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Excellent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157720406"/>
                  </a:ext>
                </a:extLst>
              </a:tr>
              <a:tr h="0">
                <a:tc>
                  <a:txBody>
                    <a:bodyPr/>
                    <a:lstStyle/>
                    <a:p>
                      <a:pPr algn="ctr">
                        <a:lnSpc>
                          <a:spcPct val="100000"/>
                        </a:lnSpc>
                        <a:spcAft>
                          <a:spcPts val="0"/>
                        </a:spcAft>
                        <a:buNone/>
                      </a:pPr>
                      <a:r>
                        <a:rPr lang="en-IN" sz="1000" b="0" kern="100" dirty="0">
                          <a:effectLst/>
                          <a:latin typeface="+mn-lt"/>
                        </a:rPr>
                        <a:t> 40</a:t>
                      </a:r>
                      <a:endParaRPr lang="en-IN" sz="1000" b="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Product Development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Moderate</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tc>
                  <a:txBody>
                    <a:bodyPr/>
                    <a:lstStyle/>
                    <a:p>
                      <a:pPr>
                        <a:lnSpc>
                          <a:spcPct val="100000"/>
                        </a:lnSpc>
                        <a:spcAft>
                          <a:spcPts val="0"/>
                        </a:spcAft>
                        <a:buNone/>
                      </a:pPr>
                      <a:r>
                        <a:rPr lang="en-IN" sz="1000" kern="100" dirty="0">
                          <a:effectLst/>
                          <a:latin typeface="+mn-lt"/>
                        </a:rPr>
                        <a:t>Excellent</a:t>
                      </a:r>
                      <a:endParaRPr lang="en-IN" sz="1000" dirty="0">
                        <a:effectLst/>
                        <a:latin typeface="+mn-lt"/>
                        <a:ea typeface="SimSun" panose="02010600030101010101" pitchFamily="2" charset="-122"/>
                        <a:cs typeface="Times New Roman" panose="02020603050405020304" pitchFamily="18" charset="0"/>
                      </a:endParaRPr>
                    </a:p>
                  </a:txBody>
                  <a:tcPr marL="36000" marR="22089" marT="36000" marB="36000"/>
                </a:tc>
                <a:extLst>
                  <a:ext uri="{0D108BD9-81ED-4DB2-BD59-A6C34878D82A}">
                    <a16:rowId xmlns:a16="http://schemas.microsoft.com/office/drawing/2014/main" val="509323007"/>
                  </a:ext>
                </a:extLst>
              </a:tr>
            </a:tbl>
          </a:graphicData>
        </a:graphic>
      </p:graphicFrame>
      <p:sp>
        <p:nvSpPr>
          <p:cNvPr id="6" name="Rectangle 5">
            <a:extLst>
              <a:ext uri="{FF2B5EF4-FFF2-40B4-BE49-F238E27FC236}">
                <a16:creationId xmlns:a16="http://schemas.microsoft.com/office/drawing/2014/main" id="{D5166AAD-1F29-90EF-1599-2512224D9A08}"/>
              </a:ext>
            </a:extLst>
          </p:cNvPr>
          <p:cNvSpPr/>
          <p:nvPr/>
        </p:nvSpPr>
        <p:spPr>
          <a:xfrm>
            <a:off x="1607081" y="35361"/>
            <a:ext cx="6701172" cy="307777"/>
          </a:xfrm>
          <a:prstGeom prst="rect">
            <a:avLst/>
          </a:prstGeom>
        </p:spPr>
        <p:txBody>
          <a:bodyPr wrap="square">
            <a:spAutoFit/>
          </a:bodyPr>
          <a:lstStyle/>
          <a:p>
            <a:pPr algn="ctr"/>
            <a:r>
              <a:rPr lang="en-US" sz="1400" b="1" dirty="0">
                <a:solidFill>
                  <a:srgbClr val="BE5209"/>
                </a:solidFill>
                <a:latin typeface="Segoe UI" panose="020B0502040204020203" pitchFamily="34" charset="0"/>
                <a:cs typeface="Segoe UI" panose="020B0502040204020203" pitchFamily="34" charset="0"/>
              </a:rPr>
              <a:t>Advayam – </a:t>
            </a:r>
            <a:r>
              <a:rPr lang="en-US" sz="1400" dirty="0">
                <a:solidFill>
                  <a:srgbClr val="BE5209"/>
                </a:solidFill>
                <a:latin typeface="Segoe UI" panose="020B0502040204020203" pitchFamily="34" charset="0"/>
                <a:cs typeface="Segoe UI" panose="020B0502040204020203" pitchFamily="34" charset="0"/>
              </a:rPr>
              <a:t>Partial Comparative Study</a:t>
            </a:r>
            <a:endParaRPr lang="en-IN" sz="1400" dirty="0">
              <a:solidFill>
                <a:srgbClr val="BE5209"/>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F63E8773-0E25-94D5-5F3F-5F2ECEFEB84D}"/>
              </a:ext>
            </a:extLst>
          </p:cNvPr>
          <p:cNvSpPr txBox="1"/>
          <p:nvPr/>
        </p:nvSpPr>
        <p:spPr>
          <a:xfrm>
            <a:off x="1" y="6531650"/>
            <a:ext cx="9906000" cy="523220"/>
          </a:xfrm>
          <a:prstGeom prst="rect">
            <a:avLst/>
          </a:prstGeom>
          <a:noFill/>
        </p:spPr>
        <p:txBody>
          <a:bodyPr wrap="square">
            <a:spAutoFit/>
          </a:bodyPr>
          <a:lstStyle/>
          <a:p>
            <a:pPr algn="ctr">
              <a:spcBef>
                <a:spcPts val="300"/>
              </a:spcBef>
              <a:spcAft>
                <a:spcPts val="300"/>
              </a:spcAft>
            </a:pPr>
            <a:r>
              <a:rPr lang="en-US" sz="1400" b="1" dirty="0">
                <a:solidFill>
                  <a:schemeClr val="accent5">
                    <a:lumMod val="50000"/>
                  </a:schemeClr>
                </a:solidFill>
              </a:rPr>
              <a:t>All these features are designed into the system by choosing suitable hardware and software framework – modules are being rolled out.  </a:t>
            </a:r>
          </a:p>
        </p:txBody>
      </p:sp>
    </p:spTree>
    <p:extLst>
      <p:ext uri="{BB962C8B-B14F-4D97-AF65-F5344CB8AC3E}">
        <p14:creationId xmlns:p14="http://schemas.microsoft.com/office/powerpoint/2010/main" val="590405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F3D8E3-FDC7-A0A1-9F0E-314034B2DAE8}"/>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7" name="Picture 6" descr="Efforts are being exerted to efface unique identity of Bharat, but why?">
            <a:extLst>
              <a:ext uri="{FF2B5EF4-FFF2-40B4-BE49-F238E27FC236}">
                <a16:creationId xmlns:a16="http://schemas.microsoft.com/office/drawing/2014/main" id="{6D0C87C7-D785-45B4-F772-63B8ED71B0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DCA9BF9-735A-08F6-DB09-A591B2414AFB}"/>
              </a:ext>
            </a:extLst>
          </p:cNvPr>
          <p:cNvSpPr/>
          <p:nvPr/>
        </p:nvSpPr>
        <p:spPr>
          <a:xfrm>
            <a:off x="2320669" y="0"/>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1" name="TextBox 7">
            <a:extLst>
              <a:ext uri="{FF2B5EF4-FFF2-40B4-BE49-F238E27FC236}">
                <a16:creationId xmlns:a16="http://schemas.microsoft.com/office/drawing/2014/main" id="{024766FF-CA01-7257-B915-5D953030381B}"/>
              </a:ext>
            </a:extLst>
          </p:cNvPr>
          <p:cNvSpPr txBox="1"/>
          <p:nvPr/>
        </p:nvSpPr>
        <p:spPr>
          <a:xfrm>
            <a:off x="4030611" y="596236"/>
            <a:ext cx="3737903" cy="266098"/>
          </a:xfrm>
          <a:prstGeom prst="rect">
            <a:avLst/>
          </a:prstGeom>
        </p:spPr>
        <p:txBody>
          <a:bodyPr lIns="0" tIns="0" rIns="0" bIns="0" rtlCol="0" anchor="t">
            <a:spAutoFit/>
          </a:bodyPr>
          <a:lstStyle/>
          <a:p>
            <a:pPr algn="ctr">
              <a:lnSpc>
                <a:spcPts val="2239"/>
              </a:lnSpc>
              <a:spcBef>
                <a:spcPct val="0"/>
              </a:spcBef>
            </a:pPr>
            <a:r>
              <a:rPr lang="en-US" sz="1600" dirty="0">
                <a:solidFill>
                  <a:schemeClr val="accent1">
                    <a:lumMod val="75000"/>
                  </a:schemeClr>
                </a:solidFill>
                <a:sym typeface="Times New Roman Bold"/>
              </a:rPr>
              <a:t>Boards Released and to be Released</a:t>
            </a:r>
          </a:p>
        </p:txBody>
      </p:sp>
      <p:graphicFrame>
        <p:nvGraphicFramePr>
          <p:cNvPr id="13" name="Table 12">
            <a:extLst>
              <a:ext uri="{FF2B5EF4-FFF2-40B4-BE49-F238E27FC236}">
                <a16:creationId xmlns:a16="http://schemas.microsoft.com/office/drawing/2014/main" id="{64E56DCA-8A26-B2F5-9507-39F2D3711785}"/>
              </a:ext>
            </a:extLst>
          </p:cNvPr>
          <p:cNvGraphicFramePr>
            <a:graphicFrameLocks noGrp="1"/>
          </p:cNvGraphicFramePr>
          <p:nvPr>
            <p:extLst>
              <p:ext uri="{D42A27DB-BD31-4B8C-83A1-F6EECF244321}">
                <p14:modId xmlns:p14="http://schemas.microsoft.com/office/powerpoint/2010/main" val="1597468446"/>
              </p:ext>
            </p:extLst>
          </p:nvPr>
        </p:nvGraphicFramePr>
        <p:xfrm>
          <a:off x="2241494" y="941376"/>
          <a:ext cx="7504172" cy="5369760"/>
        </p:xfrm>
        <a:graphic>
          <a:graphicData uri="http://schemas.openxmlformats.org/drawingml/2006/table">
            <a:tbl>
              <a:tblPr>
                <a:tableStyleId>{BC89EF96-8CEA-46FF-86C4-4CE0E7609802}</a:tableStyleId>
              </a:tblPr>
              <a:tblGrid>
                <a:gridCol w="291010">
                  <a:extLst>
                    <a:ext uri="{9D8B030D-6E8A-4147-A177-3AD203B41FA5}">
                      <a16:colId xmlns:a16="http://schemas.microsoft.com/office/drawing/2014/main" val="3973780987"/>
                    </a:ext>
                  </a:extLst>
                </a:gridCol>
                <a:gridCol w="1014989">
                  <a:extLst>
                    <a:ext uri="{9D8B030D-6E8A-4147-A177-3AD203B41FA5}">
                      <a16:colId xmlns:a16="http://schemas.microsoft.com/office/drawing/2014/main" val="1066990383"/>
                    </a:ext>
                  </a:extLst>
                </a:gridCol>
                <a:gridCol w="738173">
                  <a:extLst>
                    <a:ext uri="{9D8B030D-6E8A-4147-A177-3AD203B41FA5}">
                      <a16:colId xmlns:a16="http://schemas.microsoft.com/office/drawing/2014/main" val="2154850999"/>
                    </a:ext>
                  </a:extLst>
                </a:gridCol>
                <a:gridCol w="806287">
                  <a:extLst>
                    <a:ext uri="{9D8B030D-6E8A-4147-A177-3AD203B41FA5}">
                      <a16:colId xmlns:a16="http://schemas.microsoft.com/office/drawing/2014/main" val="3171141414"/>
                    </a:ext>
                  </a:extLst>
                </a:gridCol>
                <a:gridCol w="941294">
                  <a:extLst>
                    <a:ext uri="{9D8B030D-6E8A-4147-A177-3AD203B41FA5}">
                      <a16:colId xmlns:a16="http://schemas.microsoft.com/office/drawing/2014/main" val="3809717605"/>
                    </a:ext>
                  </a:extLst>
                </a:gridCol>
                <a:gridCol w="3712419">
                  <a:extLst>
                    <a:ext uri="{9D8B030D-6E8A-4147-A177-3AD203B41FA5}">
                      <a16:colId xmlns:a16="http://schemas.microsoft.com/office/drawing/2014/main" val="1847428579"/>
                    </a:ext>
                  </a:extLst>
                </a:gridCol>
              </a:tblGrid>
              <a:tr h="297057">
                <a:tc>
                  <a:txBody>
                    <a:bodyPr/>
                    <a:lstStyle/>
                    <a:p>
                      <a:pPr marL="0" algn="ctr" defTabSz="914400" rtl="0" eaLnBrk="1" fontAlgn="b" latinLnBrk="0" hangingPunct="1">
                        <a:buNone/>
                      </a:pPr>
                      <a:r>
                        <a:rPr lang="en-IN" sz="1200" u="none" strike="noStrike" kern="1200" dirty="0">
                          <a:solidFill>
                            <a:schemeClr val="tx1"/>
                          </a:solidFill>
                          <a:effectLst/>
                          <a:latin typeface="+mn-lt"/>
                          <a:ea typeface="+mn-ea"/>
                          <a:cs typeface="+mn-cs"/>
                        </a:rPr>
                        <a:t>SI No.</a:t>
                      </a:r>
                    </a:p>
                  </a:txBody>
                  <a:tcPr marL="36000" marR="36000" marT="36000" marB="36000" anchor="ctr"/>
                </a:tc>
                <a:tc>
                  <a:txBody>
                    <a:bodyPr/>
                    <a:lstStyle/>
                    <a:p>
                      <a:pPr marL="0" algn="ctr" defTabSz="914400" rtl="0" eaLnBrk="1" fontAlgn="b" latinLnBrk="0" hangingPunct="1">
                        <a:buNone/>
                      </a:pPr>
                      <a:r>
                        <a:rPr lang="en-IN" sz="1200" u="none" strike="noStrike" kern="1200" dirty="0">
                          <a:solidFill>
                            <a:schemeClr val="tx1"/>
                          </a:solidFill>
                          <a:effectLst/>
                          <a:latin typeface="+mn-lt"/>
                          <a:ea typeface="+mn-ea"/>
                          <a:cs typeface="+mn-cs"/>
                        </a:rPr>
                        <a:t>Advayam board names</a:t>
                      </a:r>
                    </a:p>
                  </a:txBody>
                  <a:tcPr marL="36000" marR="36000" marT="36000" marB="36000" anchor="ctr"/>
                </a:tc>
                <a:tc>
                  <a:txBody>
                    <a:bodyPr/>
                    <a:lstStyle/>
                    <a:p>
                      <a:pPr marL="0" algn="ctr" defTabSz="914400" rtl="0" eaLnBrk="1" fontAlgn="b" latinLnBrk="0" hangingPunct="1">
                        <a:buNone/>
                      </a:pPr>
                      <a:r>
                        <a:rPr lang="en-IN" sz="1200" u="none" strike="noStrike" kern="1200" dirty="0">
                          <a:solidFill>
                            <a:schemeClr val="tx1"/>
                          </a:solidFill>
                          <a:effectLst/>
                          <a:latin typeface="+mn-lt"/>
                          <a:ea typeface="+mn-ea"/>
                          <a:cs typeface="+mn-cs"/>
                        </a:rPr>
                        <a:t>MCU Used</a:t>
                      </a:r>
                    </a:p>
                  </a:txBody>
                  <a:tcPr marL="36000" marR="36000" marT="36000" marB="36000" anchor="ctr"/>
                </a:tc>
                <a:tc>
                  <a:txBody>
                    <a:bodyPr/>
                    <a:lstStyle/>
                    <a:p>
                      <a:pPr marL="0" algn="ctr" defTabSz="914400" rtl="0" eaLnBrk="1" fontAlgn="b" latinLnBrk="0" hangingPunct="1">
                        <a:buNone/>
                      </a:pPr>
                      <a:r>
                        <a:rPr lang="en-IN" sz="1200" u="none" strike="noStrike" kern="1200" dirty="0">
                          <a:solidFill>
                            <a:schemeClr val="tx1"/>
                          </a:solidFill>
                          <a:effectLst/>
                          <a:latin typeface="+mn-lt"/>
                          <a:ea typeface="+mn-ea"/>
                          <a:cs typeface="+mn-cs"/>
                        </a:rPr>
                        <a:t>Manufacturer</a:t>
                      </a:r>
                    </a:p>
                  </a:txBody>
                  <a:tcPr marL="36000" marR="36000" marT="36000" marB="36000" anchor="ctr"/>
                </a:tc>
                <a:tc>
                  <a:txBody>
                    <a:bodyPr/>
                    <a:lstStyle/>
                    <a:p>
                      <a:pPr marL="0" algn="ctr" defTabSz="914400" rtl="0" eaLnBrk="1" fontAlgn="b" latinLnBrk="0" hangingPunct="1">
                        <a:buNone/>
                      </a:pPr>
                      <a:r>
                        <a:rPr lang="en-IN" sz="1200" u="none" strike="noStrike" kern="1200">
                          <a:solidFill>
                            <a:schemeClr val="tx1"/>
                          </a:solidFill>
                          <a:effectLst/>
                          <a:latin typeface="+mn-lt"/>
                          <a:ea typeface="+mn-ea"/>
                          <a:cs typeface="+mn-cs"/>
                        </a:rPr>
                        <a:t>Manufacturer Part Number</a:t>
                      </a:r>
                    </a:p>
                  </a:txBody>
                  <a:tcPr marL="36000" marR="36000" marT="36000" marB="36000" anchor="ctr"/>
                </a:tc>
                <a:tc>
                  <a:txBody>
                    <a:bodyPr/>
                    <a:lstStyle/>
                    <a:p>
                      <a:pPr marL="0" algn="ctr" defTabSz="914400" rtl="0" eaLnBrk="1" fontAlgn="b" latinLnBrk="0" hangingPunct="1">
                        <a:buNone/>
                      </a:pPr>
                      <a:r>
                        <a:rPr lang="en-IN" sz="1200" u="none" strike="noStrike" kern="1200" dirty="0">
                          <a:solidFill>
                            <a:schemeClr val="tx1"/>
                          </a:solidFill>
                          <a:effectLst/>
                          <a:latin typeface="+mn-lt"/>
                          <a:ea typeface="+mn-ea"/>
                          <a:cs typeface="+mn-cs"/>
                        </a:rPr>
                        <a:t>Functionality</a:t>
                      </a:r>
                    </a:p>
                  </a:txBody>
                  <a:tcPr marL="36000" marR="36000" marT="36000" marB="36000" anchor="ctr"/>
                </a:tc>
                <a:extLst>
                  <a:ext uri="{0D108BD9-81ED-4DB2-BD59-A6C34878D82A}">
                    <a16:rowId xmlns:a16="http://schemas.microsoft.com/office/drawing/2014/main" val="672971845"/>
                  </a:ext>
                </a:extLst>
              </a:tr>
              <a:tr h="212184">
                <a:tc>
                  <a:txBody>
                    <a:bodyPr/>
                    <a:lstStyle/>
                    <a:p>
                      <a:pPr algn="ctr" fontAlgn="b">
                        <a:buNone/>
                      </a:pPr>
                      <a:r>
                        <a:rPr lang="en-IN" sz="1200" u="none" strike="noStrike">
                          <a:effectLst/>
                        </a:rPr>
                        <a:t>1</a:t>
                      </a:r>
                      <a:endParaRPr lang="en-IN" sz="1200" b="0" i="0" u="none" strike="noStrike">
                        <a:solidFill>
                          <a:srgbClr val="000000"/>
                        </a:solidFill>
                        <a:effectLst/>
                        <a:latin typeface="Arial" panose="020B0604020202020204" pitchFamily="34" charset="0"/>
                      </a:endParaRPr>
                    </a:p>
                  </a:txBody>
                  <a:tcPr marL="36000" marR="36000" marT="36000" marB="36000" anchor="b"/>
                </a:tc>
                <a:tc>
                  <a:txBody>
                    <a:bodyPr/>
                    <a:lstStyle/>
                    <a:p>
                      <a:pPr algn="l" fontAlgn="b">
                        <a:buNone/>
                      </a:pPr>
                      <a:r>
                        <a:rPr lang="en-IN" sz="1200" u="none" strike="noStrike" dirty="0">
                          <a:effectLst/>
                        </a:rPr>
                        <a:t>Advayam ESP32S3 Starter Kit</a:t>
                      </a:r>
                      <a:endParaRPr lang="en-IN" sz="1200" b="0" i="0" u="none" strike="noStrike" dirty="0">
                        <a:solidFill>
                          <a:srgbClr val="000000"/>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effectLst/>
                        </a:rPr>
                        <a:t>ESP32-S3-WROOM-1</a:t>
                      </a:r>
                      <a:endParaRPr lang="en-IN" sz="1200" b="0" i="0" u="none" strike="noStrike" dirty="0">
                        <a:solidFill>
                          <a:srgbClr val="000000"/>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a:effectLst/>
                        </a:rPr>
                        <a:t>Espressif Systems</a:t>
                      </a:r>
                      <a:endParaRPr lang="en-IN" sz="1200" b="0" i="0" u="none" strike="noStrike">
                        <a:solidFill>
                          <a:srgbClr val="000000"/>
                        </a:solidFill>
                        <a:effectLst/>
                        <a:latin typeface="Arial" panose="020B0604020202020204" pitchFamily="34" charset="0"/>
                      </a:endParaRPr>
                    </a:p>
                  </a:txBody>
                  <a:tcPr marL="36000" marR="36000" marT="36000" marB="36000" anchor="ctr"/>
                </a:tc>
                <a:tc>
                  <a:txBody>
                    <a:bodyPr/>
                    <a:lstStyle/>
                    <a:p>
                      <a:pPr algn="l" fontAlgn="b">
                        <a:buNone/>
                      </a:pPr>
                      <a:br>
                        <a:rPr lang="en-IN" sz="1200" u="none" strike="noStrike" dirty="0">
                          <a:effectLst/>
                        </a:rPr>
                      </a:br>
                      <a:r>
                        <a:rPr lang="en-IN" sz="1200" u="none" strike="noStrike" dirty="0">
                          <a:effectLst/>
                        </a:rPr>
                        <a:t>ESP32-S3-WROOM-1-N16R8</a:t>
                      </a:r>
                      <a:endParaRPr lang="en-IN" sz="1200" b="0" i="0" u="none" strike="noStrike" dirty="0">
                        <a:solidFill>
                          <a:srgbClr val="000000"/>
                        </a:solidFill>
                        <a:effectLst/>
                        <a:latin typeface="Arial" panose="020B0604020202020204" pitchFamily="34" charset="0"/>
                      </a:endParaRPr>
                    </a:p>
                  </a:txBody>
                  <a:tcPr marL="36000" marR="36000" marT="36000" marB="36000" anchor="ctr"/>
                </a:tc>
                <a:tc>
                  <a:txBody>
                    <a:bodyPr/>
                    <a:lstStyle/>
                    <a:p>
                      <a:pPr algn="just" fontAlgn="b">
                        <a:buNone/>
                      </a:pPr>
                      <a:r>
                        <a:rPr lang="en-IN" sz="1200" u="none" strike="noStrike" dirty="0">
                          <a:effectLst/>
                        </a:rPr>
                        <a:t>Beginner-friendly embedded systems learning, Hands-on IoT education, Programming fundamentals • Sensor interfacing experiments • Display and peripheral interfacing • Wireless communication learning</a:t>
                      </a:r>
                      <a:endParaRPr lang="en-IN" sz="1200" b="0" i="0" u="none" strike="noStrike" dirty="0">
                        <a:solidFill>
                          <a:srgbClr val="000000"/>
                        </a:solidFill>
                        <a:effectLst/>
                        <a:latin typeface="Arial" panose="020B0604020202020204" pitchFamily="34" charset="0"/>
                      </a:endParaRPr>
                    </a:p>
                  </a:txBody>
                  <a:tcPr marL="36000" marR="36000" marT="36000" marB="36000" anchor="b"/>
                </a:tc>
                <a:extLst>
                  <a:ext uri="{0D108BD9-81ED-4DB2-BD59-A6C34878D82A}">
                    <a16:rowId xmlns:a16="http://schemas.microsoft.com/office/drawing/2014/main" val="182628785"/>
                  </a:ext>
                </a:extLst>
              </a:tr>
              <a:tr h="315244">
                <a:tc>
                  <a:txBody>
                    <a:bodyPr/>
                    <a:lstStyle/>
                    <a:p>
                      <a:pPr algn="ctr" fontAlgn="b">
                        <a:buNone/>
                      </a:pPr>
                      <a:r>
                        <a:rPr lang="en-IN" sz="1200" u="none" strike="noStrike">
                          <a:effectLst/>
                        </a:rPr>
                        <a:t>2</a:t>
                      </a:r>
                      <a:endParaRPr lang="en-IN" sz="1200" b="0" i="0" u="none" strike="noStrike">
                        <a:solidFill>
                          <a:srgbClr val="000000"/>
                        </a:solidFill>
                        <a:effectLst/>
                        <a:latin typeface="Arial" panose="020B0604020202020204" pitchFamily="34" charset="0"/>
                      </a:endParaRPr>
                    </a:p>
                  </a:txBody>
                  <a:tcPr marL="36000" marR="36000" marT="36000" marB="36000" anchor="b"/>
                </a:tc>
                <a:tc>
                  <a:txBody>
                    <a:bodyPr/>
                    <a:lstStyle/>
                    <a:p>
                      <a:pPr algn="l" fontAlgn="b">
                        <a:buNone/>
                      </a:pPr>
                      <a:r>
                        <a:rPr lang="en-IN" sz="1200" u="none" strike="noStrike" dirty="0">
                          <a:effectLst/>
                        </a:rPr>
                        <a:t>Advayam RA4M1 SK</a:t>
                      </a:r>
                      <a:endParaRPr lang="en-IN" sz="1200" b="0" i="0" u="none" strike="noStrike" dirty="0">
                        <a:solidFill>
                          <a:srgbClr val="000000"/>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effectLst/>
                        </a:rPr>
                        <a:t>R7FA4M1AB3CFM</a:t>
                      </a:r>
                      <a:endParaRPr lang="en-IN" sz="1200" b="0" i="0" u="none" strike="noStrike" dirty="0">
                        <a:solidFill>
                          <a:srgbClr val="000000"/>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effectLst/>
                        </a:rPr>
                        <a:t>Renesas Electronics</a:t>
                      </a:r>
                      <a:endParaRPr lang="en-IN" sz="1200" b="0" i="0" u="none" strike="noStrike" dirty="0">
                        <a:solidFill>
                          <a:srgbClr val="000000"/>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effectLst/>
                        </a:rPr>
                        <a:t>R7FA4M1AB3CFM#AA0</a:t>
                      </a:r>
                      <a:endParaRPr lang="en-IN" sz="1200" b="0" i="0" u="none" strike="noStrike" dirty="0">
                        <a:solidFill>
                          <a:srgbClr val="000000"/>
                        </a:solidFill>
                        <a:effectLst/>
                        <a:latin typeface="Arial" panose="020B0604020202020204" pitchFamily="34" charset="0"/>
                      </a:endParaRPr>
                    </a:p>
                  </a:txBody>
                  <a:tcPr marL="36000" marR="36000" marT="36000" marB="36000" anchor="ctr"/>
                </a:tc>
                <a:tc>
                  <a:txBody>
                    <a:bodyPr/>
                    <a:lstStyle/>
                    <a:p>
                      <a:pPr algn="just" fontAlgn="b">
                        <a:buNone/>
                      </a:pPr>
                      <a:r>
                        <a:rPr lang="en-IN" sz="1200" u="none" strike="noStrike" dirty="0">
                          <a:effectLst/>
                        </a:rPr>
                        <a:t>Advayam RA4M1 SK combines Arduino UNO R3 shield compatibility, an onboard LED matrix, and comprehensive communication interfaces. An ideal platform for robotics, automation, IoT solutions, embedded learning, and rapid product development.</a:t>
                      </a:r>
                      <a:endParaRPr lang="en-IN" sz="1200" b="0" i="0" u="none" strike="noStrike" dirty="0">
                        <a:solidFill>
                          <a:srgbClr val="000000"/>
                        </a:solidFill>
                        <a:effectLst/>
                        <a:latin typeface="Arial" panose="020B0604020202020204" pitchFamily="34" charset="0"/>
                      </a:endParaRPr>
                    </a:p>
                  </a:txBody>
                  <a:tcPr marL="36000" marR="36000" marT="36000" marB="36000" anchor="b"/>
                </a:tc>
                <a:extLst>
                  <a:ext uri="{0D108BD9-81ED-4DB2-BD59-A6C34878D82A}">
                    <a16:rowId xmlns:a16="http://schemas.microsoft.com/office/drawing/2014/main" val="3815479116"/>
                  </a:ext>
                </a:extLst>
              </a:tr>
              <a:tr h="315244">
                <a:tc>
                  <a:txBody>
                    <a:bodyPr/>
                    <a:lstStyle/>
                    <a:p>
                      <a:pPr algn="ctr" fontAlgn="b">
                        <a:buNone/>
                      </a:pPr>
                      <a:r>
                        <a:rPr lang="en-IN" sz="1200" u="none" strike="noStrike">
                          <a:effectLst/>
                        </a:rPr>
                        <a:t>3</a:t>
                      </a:r>
                      <a:endParaRPr lang="en-IN" sz="1200" b="0" i="0" u="none" strike="noStrike">
                        <a:solidFill>
                          <a:srgbClr val="000000"/>
                        </a:solidFill>
                        <a:effectLst/>
                        <a:latin typeface="Arial" panose="020B0604020202020204" pitchFamily="34" charset="0"/>
                      </a:endParaRPr>
                    </a:p>
                  </a:txBody>
                  <a:tcPr marL="36000" marR="36000" marT="36000" marB="36000" anchor="b"/>
                </a:tc>
                <a:tc>
                  <a:txBody>
                    <a:bodyPr/>
                    <a:lstStyle/>
                    <a:p>
                      <a:pPr algn="l" fontAlgn="b">
                        <a:buNone/>
                      </a:pPr>
                      <a:r>
                        <a:rPr lang="en-IN" sz="1200" u="none" strike="noStrike" dirty="0">
                          <a:solidFill>
                            <a:schemeClr val="accent6">
                              <a:lumMod val="75000"/>
                            </a:schemeClr>
                          </a:solidFill>
                          <a:effectLst/>
                        </a:rPr>
                        <a:t>Advayam RP2354 Base Board – (Under development) </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solidFill>
                            <a:schemeClr val="accent6">
                              <a:lumMod val="75000"/>
                            </a:schemeClr>
                          </a:solidFill>
                          <a:effectLst/>
                        </a:rPr>
                        <a:t>RP2354B</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solidFill>
                            <a:schemeClr val="accent6">
                              <a:lumMod val="75000"/>
                            </a:schemeClr>
                          </a:solidFill>
                          <a:effectLst/>
                        </a:rPr>
                        <a:t>Raspberry PI</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solidFill>
                            <a:schemeClr val="accent6">
                              <a:lumMod val="75000"/>
                            </a:schemeClr>
                          </a:solidFill>
                          <a:effectLst/>
                        </a:rPr>
                        <a:t>RP2354B</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just" fontAlgn="b">
                        <a:buNone/>
                      </a:pPr>
                      <a:r>
                        <a:rPr lang="en-IN" sz="1200" u="none" strike="noStrike" dirty="0">
                          <a:solidFill>
                            <a:schemeClr val="accent6">
                              <a:lumMod val="75000"/>
                            </a:schemeClr>
                          </a:solidFill>
                          <a:effectLst/>
                        </a:rPr>
                        <a:t>A powerful and scalable RP2354 development platform with compatibility for Arduino shields and Advayam custom expansion boards. Engineered for embedded innovation, robotics, IoT, automation, education, and next-generation product development.</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b"/>
                </a:tc>
                <a:extLst>
                  <a:ext uri="{0D108BD9-81ED-4DB2-BD59-A6C34878D82A}">
                    <a16:rowId xmlns:a16="http://schemas.microsoft.com/office/drawing/2014/main" val="3158889871"/>
                  </a:ext>
                </a:extLst>
              </a:tr>
              <a:tr h="315244">
                <a:tc>
                  <a:txBody>
                    <a:bodyPr/>
                    <a:lstStyle/>
                    <a:p>
                      <a:pPr algn="ctr" fontAlgn="b">
                        <a:buNone/>
                      </a:pPr>
                      <a:r>
                        <a:rPr lang="en-IN" sz="1200" u="none" strike="noStrike">
                          <a:effectLst/>
                        </a:rPr>
                        <a:t>4</a:t>
                      </a:r>
                      <a:endParaRPr lang="en-IN" sz="1200" b="0" i="0" u="none" strike="noStrike">
                        <a:solidFill>
                          <a:srgbClr val="000000"/>
                        </a:solidFill>
                        <a:effectLst/>
                        <a:latin typeface="Arial" panose="020B0604020202020204" pitchFamily="34" charset="0"/>
                      </a:endParaRPr>
                    </a:p>
                  </a:txBody>
                  <a:tcPr marL="36000" marR="36000" marT="36000" marB="36000" anchor="b"/>
                </a:tc>
                <a:tc>
                  <a:txBody>
                    <a:bodyPr/>
                    <a:lstStyle/>
                    <a:p>
                      <a:pPr algn="l" fontAlgn="b">
                        <a:buNone/>
                      </a:pPr>
                      <a:r>
                        <a:rPr lang="en-IN" sz="1200" u="none" strike="noStrike" dirty="0">
                          <a:solidFill>
                            <a:schemeClr val="accent6">
                              <a:lumMod val="75000"/>
                            </a:schemeClr>
                          </a:solidFill>
                          <a:effectLst/>
                        </a:rPr>
                        <a:t>Advayam Thejas32 Base Board – (Under development) </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solidFill>
                            <a:schemeClr val="accent6">
                              <a:lumMod val="75000"/>
                            </a:schemeClr>
                          </a:solidFill>
                          <a:effectLst/>
                        </a:rPr>
                        <a:t>THEJAS32 SoC</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solidFill>
                            <a:schemeClr val="accent6">
                              <a:lumMod val="75000"/>
                            </a:schemeClr>
                          </a:solidFill>
                          <a:effectLst/>
                        </a:rPr>
                        <a:t>VEGA Processor</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solidFill>
                            <a:schemeClr val="accent6">
                              <a:lumMod val="75000"/>
                            </a:schemeClr>
                          </a:solidFill>
                          <a:effectLst/>
                        </a:rPr>
                        <a:t>THEJAS32</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ctr"/>
                </a:tc>
                <a:tc>
                  <a:txBody>
                    <a:bodyPr/>
                    <a:lstStyle/>
                    <a:p>
                      <a:pPr algn="just" fontAlgn="b">
                        <a:buNone/>
                      </a:pPr>
                      <a:r>
                        <a:rPr lang="en-IN" sz="1200" u="none" strike="noStrike" dirty="0">
                          <a:solidFill>
                            <a:schemeClr val="accent6">
                              <a:lumMod val="75000"/>
                            </a:schemeClr>
                          </a:solidFill>
                          <a:effectLst/>
                        </a:rPr>
                        <a:t>An indigenous RISC-V development platform with support for Arduino-compatible shields and Advayam custom expansion shields. Ideal for RISC-V software development, embedded research, industrial automation, robotics, and next-generation indigenous product development. and promoting Made-in-India embedded solutions.</a:t>
                      </a:r>
                      <a:endParaRPr lang="en-IN" sz="1200" b="0" i="0" u="none" strike="noStrike" dirty="0">
                        <a:solidFill>
                          <a:schemeClr val="accent6">
                            <a:lumMod val="75000"/>
                          </a:schemeClr>
                        </a:solidFill>
                        <a:effectLst/>
                        <a:latin typeface="Arial" panose="020B0604020202020204" pitchFamily="34" charset="0"/>
                      </a:endParaRPr>
                    </a:p>
                  </a:txBody>
                  <a:tcPr marL="36000" marR="36000" marT="36000" marB="36000" anchor="b"/>
                </a:tc>
                <a:extLst>
                  <a:ext uri="{0D108BD9-81ED-4DB2-BD59-A6C34878D82A}">
                    <a16:rowId xmlns:a16="http://schemas.microsoft.com/office/drawing/2014/main" val="162603882"/>
                  </a:ext>
                </a:extLst>
              </a:tr>
              <a:tr h="212184">
                <a:tc>
                  <a:txBody>
                    <a:bodyPr/>
                    <a:lstStyle/>
                    <a:p>
                      <a:pPr algn="ctr" fontAlgn="b">
                        <a:buNone/>
                      </a:pPr>
                      <a:r>
                        <a:rPr lang="en-IN" sz="1200" u="none" strike="noStrike" kern="1200" dirty="0">
                          <a:solidFill>
                            <a:schemeClr val="accent2">
                              <a:lumMod val="50000"/>
                            </a:schemeClr>
                          </a:solidFill>
                          <a:effectLst/>
                          <a:latin typeface="+mn-lt"/>
                          <a:ea typeface="+mn-ea"/>
                          <a:cs typeface="+mn-cs"/>
                        </a:rPr>
                        <a:t>5</a:t>
                      </a:r>
                    </a:p>
                  </a:txBody>
                  <a:tcPr marL="36000" marR="36000" marT="36000" marB="36000" anchor="b"/>
                </a:tc>
                <a:tc>
                  <a:txBody>
                    <a:bodyPr/>
                    <a:lstStyle/>
                    <a:p>
                      <a:pPr algn="l" fontAlgn="b">
                        <a:buNone/>
                      </a:pPr>
                      <a:r>
                        <a:rPr lang="en-IN" sz="1200" u="none" strike="noStrike" dirty="0">
                          <a:solidFill>
                            <a:schemeClr val="accent2">
                              <a:lumMod val="50000"/>
                            </a:schemeClr>
                          </a:solidFill>
                          <a:effectLst/>
                        </a:rPr>
                        <a:t>Advayam </a:t>
                      </a:r>
                      <a:r>
                        <a:rPr lang="en-US" sz="1200" u="none" strike="noStrike" kern="1200" dirty="0">
                          <a:solidFill>
                            <a:schemeClr val="accent2">
                              <a:lumMod val="50000"/>
                            </a:schemeClr>
                          </a:solidFill>
                          <a:effectLst/>
                          <a:latin typeface="+mn-lt"/>
                          <a:ea typeface="+mn-ea"/>
                          <a:cs typeface="+mn-cs"/>
                        </a:rPr>
                        <a:t>R5F566 and R7FA8M </a:t>
                      </a:r>
                      <a:r>
                        <a:rPr lang="en-IN" sz="1200" u="none" strike="noStrike" kern="1200" dirty="0">
                          <a:solidFill>
                            <a:schemeClr val="accent2">
                              <a:lumMod val="50000"/>
                            </a:schemeClr>
                          </a:solidFill>
                          <a:effectLst/>
                          <a:latin typeface="+mn-lt"/>
                          <a:ea typeface="+mn-ea"/>
                          <a:cs typeface="+mn-cs"/>
                        </a:rPr>
                        <a:t>Base Boards (Under the project</a:t>
                      </a:r>
                      <a:r>
                        <a:rPr lang="en-IN" sz="1200" u="none" strike="noStrike" dirty="0">
                          <a:solidFill>
                            <a:schemeClr val="accent2">
                              <a:lumMod val="50000"/>
                            </a:schemeClr>
                          </a:solidFill>
                          <a:effectLst/>
                        </a:rPr>
                        <a:t>) </a:t>
                      </a:r>
                      <a:endParaRPr lang="en-IN" sz="1200" b="0" i="0" u="none" strike="noStrike" dirty="0">
                        <a:solidFill>
                          <a:schemeClr val="accent2">
                            <a:lumMod val="50000"/>
                          </a:schemeClr>
                        </a:solidFill>
                        <a:effectLst/>
                        <a:latin typeface="Arial" panose="020B0604020202020204" pitchFamily="34" charset="0"/>
                      </a:endParaRPr>
                    </a:p>
                  </a:txBody>
                  <a:tcPr marL="36000" marR="36000" marT="36000" marB="36000" anchor="ctr"/>
                </a:tc>
                <a:tc>
                  <a:txBody>
                    <a:bodyPr/>
                    <a:lstStyle/>
                    <a:p>
                      <a:pPr algn="l" fontAlgn="b">
                        <a:buNone/>
                      </a:pPr>
                      <a:r>
                        <a:rPr lang="en-US" sz="1200" u="none" strike="noStrike" kern="1200" dirty="0">
                          <a:solidFill>
                            <a:schemeClr val="accent2">
                              <a:lumMod val="50000"/>
                            </a:schemeClr>
                          </a:solidFill>
                          <a:effectLst/>
                          <a:latin typeface="+mn-lt"/>
                          <a:ea typeface="+mn-ea"/>
                          <a:cs typeface="+mn-cs"/>
                        </a:rPr>
                        <a:t>R5F566 and R7FA8M </a:t>
                      </a:r>
                      <a:endParaRPr lang="en-IN" sz="1200" u="none" strike="noStrike" kern="1200" dirty="0">
                        <a:solidFill>
                          <a:schemeClr val="accent2">
                            <a:lumMod val="50000"/>
                          </a:schemeClr>
                        </a:solidFill>
                        <a:effectLst/>
                        <a:latin typeface="+mn-lt"/>
                        <a:ea typeface="+mn-ea"/>
                        <a:cs typeface="+mn-cs"/>
                      </a:endParaRPr>
                    </a:p>
                  </a:txBody>
                  <a:tcPr marL="36000" marR="36000" marT="36000" marB="36000" anchor="ctr"/>
                </a:tc>
                <a:tc>
                  <a:txBody>
                    <a:bodyPr/>
                    <a:lstStyle/>
                    <a:p>
                      <a:pPr algn="l" fontAlgn="b">
                        <a:buNone/>
                      </a:pPr>
                      <a:r>
                        <a:rPr lang="en-IN" sz="1200" u="none" strike="noStrike" dirty="0">
                          <a:solidFill>
                            <a:schemeClr val="accent2">
                              <a:lumMod val="50000"/>
                            </a:schemeClr>
                          </a:solidFill>
                          <a:effectLst/>
                        </a:rPr>
                        <a:t>Renesas Electronics</a:t>
                      </a:r>
                      <a:endParaRPr lang="en-IN" sz="1200" b="0" i="0" u="none" strike="noStrike" dirty="0">
                        <a:solidFill>
                          <a:schemeClr val="accent2">
                            <a:lumMod val="50000"/>
                          </a:schemeClr>
                        </a:solidFill>
                        <a:effectLst/>
                        <a:latin typeface="Arial" panose="020B0604020202020204" pitchFamily="34" charset="0"/>
                      </a:endParaRPr>
                    </a:p>
                  </a:txBody>
                  <a:tcPr marL="36000" marR="36000" marT="36000" marB="36000" anchor="ctr"/>
                </a:tc>
                <a:tc>
                  <a:txBody>
                    <a:bodyPr/>
                    <a:lstStyle/>
                    <a:p>
                      <a:pPr algn="l" fontAlgn="b">
                        <a:buNone/>
                      </a:pPr>
                      <a:r>
                        <a:rPr lang="en-IN" sz="1200" u="none" strike="noStrike" dirty="0">
                          <a:solidFill>
                            <a:schemeClr val="accent2">
                              <a:lumMod val="50000"/>
                            </a:schemeClr>
                          </a:solidFill>
                          <a:effectLst/>
                        </a:rPr>
                        <a:t>R5F566NDHGFP#30</a:t>
                      </a:r>
                      <a:endParaRPr lang="en-IN" sz="1200" b="0" i="0" u="none" strike="noStrike" dirty="0">
                        <a:solidFill>
                          <a:schemeClr val="accent2">
                            <a:lumMod val="50000"/>
                          </a:schemeClr>
                        </a:solidFill>
                        <a:effectLst/>
                        <a:latin typeface="Arial" panose="020B0604020202020204" pitchFamily="34" charset="0"/>
                      </a:endParaRPr>
                    </a:p>
                  </a:txBody>
                  <a:tcPr marL="36000" marR="36000" marT="36000" marB="36000" anchor="ctr"/>
                </a:tc>
                <a:tc>
                  <a:txBody>
                    <a:bodyPr/>
                    <a:lstStyle/>
                    <a:p>
                      <a:pPr algn="just" fontAlgn="b">
                        <a:buNone/>
                      </a:pPr>
                      <a:r>
                        <a:rPr lang="en-IN" sz="1200" u="none" strike="noStrike" dirty="0">
                          <a:solidFill>
                            <a:schemeClr val="accent2">
                              <a:lumMod val="50000"/>
                            </a:schemeClr>
                          </a:solidFill>
                          <a:effectLst/>
                        </a:rPr>
                        <a:t>A high-performance AI and Machine Learning development platform by the Renesas RX66N MCU. Designed for Edge AI, intelligent robotics, industrial automation, computer vision, and real-time embedded applications.</a:t>
                      </a:r>
                      <a:endParaRPr lang="en-IN" sz="1200" b="0" i="0" u="none" strike="noStrike" dirty="0">
                        <a:solidFill>
                          <a:schemeClr val="accent2">
                            <a:lumMod val="50000"/>
                          </a:schemeClr>
                        </a:solidFill>
                        <a:effectLst/>
                        <a:latin typeface="Arial" panose="020B0604020202020204" pitchFamily="34" charset="0"/>
                      </a:endParaRPr>
                    </a:p>
                  </a:txBody>
                  <a:tcPr marL="36000" marR="36000" marT="36000" marB="36000" anchor="b"/>
                </a:tc>
                <a:extLst>
                  <a:ext uri="{0D108BD9-81ED-4DB2-BD59-A6C34878D82A}">
                    <a16:rowId xmlns:a16="http://schemas.microsoft.com/office/drawing/2014/main" val="440288165"/>
                  </a:ext>
                </a:extLst>
              </a:tr>
            </a:tbl>
          </a:graphicData>
        </a:graphic>
      </p:graphicFrame>
      <p:sp>
        <p:nvSpPr>
          <p:cNvPr id="15" name="TextBox 14">
            <a:extLst>
              <a:ext uri="{FF2B5EF4-FFF2-40B4-BE49-F238E27FC236}">
                <a16:creationId xmlns:a16="http://schemas.microsoft.com/office/drawing/2014/main" id="{5DF0A420-E239-19B4-5294-AC108E316EF0}"/>
              </a:ext>
            </a:extLst>
          </p:cNvPr>
          <p:cNvSpPr txBox="1"/>
          <p:nvPr/>
        </p:nvSpPr>
        <p:spPr>
          <a:xfrm>
            <a:off x="387940" y="6468042"/>
            <a:ext cx="9130120" cy="307777"/>
          </a:xfrm>
          <a:prstGeom prst="rect">
            <a:avLst/>
          </a:prstGeom>
          <a:noFill/>
        </p:spPr>
        <p:txBody>
          <a:bodyPr wrap="square">
            <a:spAutoFit/>
          </a:bodyPr>
          <a:lstStyle/>
          <a:p>
            <a:pPr algn="ctr">
              <a:spcBef>
                <a:spcPts val="300"/>
              </a:spcBef>
              <a:spcAft>
                <a:spcPts val="300"/>
              </a:spcAft>
            </a:pPr>
            <a:r>
              <a:rPr lang="en-US" sz="1400" b="1" dirty="0">
                <a:solidFill>
                  <a:schemeClr val="accent5">
                    <a:lumMod val="50000"/>
                  </a:schemeClr>
                </a:solidFill>
              </a:rPr>
              <a:t>Two machine learning-capable modules will be created under the project with R5F566 and R7FA8M microcontrollers </a:t>
            </a:r>
          </a:p>
        </p:txBody>
      </p:sp>
    </p:spTree>
    <p:extLst>
      <p:ext uri="{BB962C8B-B14F-4D97-AF65-F5344CB8AC3E}">
        <p14:creationId xmlns:p14="http://schemas.microsoft.com/office/powerpoint/2010/main" val="1542892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5">
            <a:extLst>
              <a:ext uri="{FF2B5EF4-FFF2-40B4-BE49-F238E27FC236}">
                <a16:creationId xmlns:a16="http://schemas.microsoft.com/office/drawing/2014/main" id="{8405A5F2-1964-C031-C0E4-3D272DDE2086}"/>
              </a:ext>
            </a:extLst>
          </p:cNvPr>
          <p:cNvSpPr/>
          <p:nvPr/>
        </p:nvSpPr>
        <p:spPr>
          <a:xfrm>
            <a:off x="230240" y="3359941"/>
            <a:ext cx="1415628" cy="2715833"/>
          </a:xfrm>
          <a:custGeom>
            <a:avLst/>
            <a:gdLst/>
            <a:ahLst/>
            <a:cxnLst/>
            <a:rect l="l" t="t" r="r" b="b"/>
            <a:pathLst>
              <a:path w="1415628" h="2715833">
                <a:moveTo>
                  <a:pt x="0" y="0"/>
                </a:moveTo>
                <a:lnTo>
                  <a:pt x="1415628" y="0"/>
                </a:lnTo>
                <a:lnTo>
                  <a:pt x="1415628" y="2715833"/>
                </a:lnTo>
                <a:lnTo>
                  <a:pt x="0" y="2715833"/>
                </a:lnTo>
                <a:lnTo>
                  <a:pt x="0" y="0"/>
                </a:lnTo>
                <a:close/>
              </a:path>
            </a:pathLst>
          </a:custGeom>
          <a:blipFill>
            <a:blip r:embed="rId2"/>
            <a:stretch>
              <a:fillRect/>
            </a:stretch>
          </a:blipFill>
        </p:spPr>
        <p:txBody>
          <a:bodyPr/>
          <a:lstStyle/>
          <a:p>
            <a:endParaRPr lang="en-IN" dirty="0"/>
          </a:p>
        </p:txBody>
      </p:sp>
      <p:sp>
        <p:nvSpPr>
          <p:cNvPr id="19" name="Freeform 6">
            <a:extLst>
              <a:ext uri="{FF2B5EF4-FFF2-40B4-BE49-F238E27FC236}">
                <a16:creationId xmlns:a16="http://schemas.microsoft.com/office/drawing/2014/main" id="{F3716C56-7E63-63E4-E48E-CCB78AB4F758}"/>
              </a:ext>
            </a:extLst>
          </p:cNvPr>
          <p:cNvSpPr/>
          <p:nvPr/>
        </p:nvSpPr>
        <p:spPr>
          <a:xfrm>
            <a:off x="1872147" y="3359941"/>
            <a:ext cx="3171968" cy="3401756"/>
          </a:xfrm>
          <a:custGeom>
            <a:avLst/>
            <a:gdLst/>
            <a:ahLst/>
            <a:cxnLst/>
            <a:rect l="l" t="t" r="r" b="b"/>
            <a:pathLst>
              <a:path w="3171968" h="3401756">
                <a:moveTo>
                  <a:pt x="0" y="0"/>
                </a:moveTo>
                <a:lnTo>
                  <a:pt x="3171968" y="0"/>
                </a:lnTo>
                <a:lnTo>
                  <a:pt x="3171968" y="3401756"/>
                </a:lnTo>
                <a:lnTo>
                  <a:pt x="0" y="3401756"/>
                </a:lnTo>
                <a:lnTo>
                  <a:pt x="0" y="0"/>
                </a:lnTo>
                <a:close/>
              </a:path>
            </a:pathLst>
          </a:custGeom>
          <a:blipFill>
            <a:blip r:embed="rId3"/>
            <a:stretch>
              <a:fillRect/>
            </a:stretch>
          </a:blipFill>
        </p:spPr>
        <p:txBody>
          <a:bodyPr/>
          <a:lstStyle/>
          <a:p>
            <a:endParaRPr lang="en-IN" dirty="0"/>
          </a:p>
        </p:txBody>
      </p:sp>
      <p:sp>
        <p:nvSpPr>
          <p:cNvPr id="20" name="Freeform 7">
            <a:extLst>
              <a:ext uri="{FF2B5EF4-FFF2-40B4-BE49-F238E27FC236}">
                <a16:creationId xmlns:a16="http://schemas.microsoft.com/office/drawing/2014/main" id="{DD85E4CD-FDBE-78BA-1EB5-FB7C3EC7FF01}"/>
              </a:ext>
            </a:extLst>
          </p:cNvPr>
          <p:cNvSpPr/>
          <p:nvPr/>
        </p:nvSpPr>
        <p:spPr>
          <a:xfrm>
            <a:off x="5355479" y="3634933"/>
            <a:ext cx="3849722" cy="3069908"/>
          </a:xfrm>
          <a:custGeom>
            <a:avLst/>
            <a:gdLst/>
            <a:ahLst/>
            <a:cxnLst/>
            <a:rect l="l" t="t" r="r" b="b"/>
            <a:pathLst>
              <a:path w="4337905" h="3611306">
                <a:moveTo>
                  <a:pt x="0" y="0"/>
                </a:moveTo>
                <a:lnTo>
                  <a:pt x="4337905" y="0"/>
                </a:lnTo>
                <a:lnTo>
                  <a:pt x="4337905" y="3611306"/>
                </a:lnTo>
                <a:lnTo>
                  <a:pt x="0" y="3611306"/>
                </a:lnTo>
                <a:lnTo>
                  <a:pt x="0" y="0"/>
                </a:lnTo>
                <a:close/>
              </a:path>
            </a:pathLst>
          </a:custGeom>
          <a:blipFill>
            <a:blip r:embed="rId4"/>
            <a:stretch>
              <a:fillRect/>
            </a:stretch>
          </a:blipFill>
        </p:spPr>
        <p:txBody>
          <a:bodyPr/>
          <a:lstStyle/>
          <a:p>
            <a:endParaRPr lang="en-IN" dirty="0"/>
          </a:p>
        </p:txBody>
      </p:sp>
      <p:sp>
        <p:nvSpPr>
          <p:cNvPr id="23" name="TextBox 10">
            <a:extLst>
              <a:ext uri="{FF2B5EF4-FFF2-40B4-BE49-F238E27FC236}">
                <a16:creationId xmlns:a16="http://schemas.microsoft.com/office/drawing/2014/main" id="{8E607836-74D3-9CEE-B75F-0268D54A5C10}"/>
              </a:ext>
            </a:extLst>
          </p:cNvPr>
          <p:cNvSpPr txBox="1"/>
          <p:nvPr/>
        </p:nvSpPr>
        <p:spPr>
          <a:xfrm>
            <a:off x="209317" y="6154861"/>
            <a:ext cx="1457474" cy="199542"/>
          </a:xfrm>
          <a:prstGeom prst="rect">
            <a:avLst/>
          </a:prstGeom>
        </p:spPr>
        <p:txBody>
          <a:bodyPr lIns="0" tIns="0" rIns="0" bIns="0" rtlCol="0" anchor="t">
            <a:spAutoFit/>
          </a:bodyPr>
          <a:lstStyle/>
          <a:p>
            <a:pPr algn="ctr">
              <a:lnSpc>
                <a:spcPts val="1679"/>
              </a:lnSpc>
              <a:spcBef>
                <a:spcPct val="0"/>
              </a:spcBef>
            </a:pPr>
            <a:r>
              <a:rPr lang="en-US" sz="1200" b="1" dirty="0">
                <a:solidFill>
                  <a:srgbClr val="000000"/>
                </a:solidFill>
                <a:latin typeface="Times New Roman Bold"/>
                <a:ea typeface="Times New Roman Bold"/>
                <a:cs typeface="Times New Roman Bold"/>
                <a:sym typeface="Times New Roman Bold"/>
              </a:rPr>
              <a:t>ESP32-S3</a:t>
            </a:r>
          </a:p>
        </p:txBody>
      </p:sp>
      <p:sp>
        <p:nvSpPr>
          <p:cNvPr id="24" name="TextBox 11">
            <a:extLst>
              <a:ext uri="{FF2B5EF4-FFF2-40B4-BE49-F238E27FC236}">
                <a16:creationId xmlns:a16="http://schemas.microsoft.com/office/drawing/2014/main" id="{F02CE6B6-A643-C9FA-C392-3E47893B4538}"/>
              </a:ext>
            </a:extLst>
          </p:cNvPr>
          <p:cNvSpPr txBox="1"/>
          <p:nvPr/>
        </p:nvSpPr>
        <p:spPr>
          <a:xfrm>
            <a:off x="5978208" y="3435391"/>
            <a:ext cx="2246263" cy="199542"/>
          </a:xfrm>
          <a:prstGeom prst="rect">
            <a:avLst/>
          </a:prstGeom>
        </p:spPr>
        <p:txBody>
          <a:bodyPr lIns="0" tIns="0" rIns="0" bIns="0" rtlCol="0" anchor="t">
            <a:spAutoFit/>
          </a:bodyPr>
          <a:lstStyle/>
          <a:p>
            <a:pPr algn="ctr">
              <a:lnSpc>
                <a:spcPts val="1679"/>
              </a:lnSpc>
              <a:spcBef>
                <a:spcPct val="0"/>
              </a:spcBef>
            </a:pPr>
            <a:r>
              <a:rPr lang="en-US" sz="1200" b="1" dirty="0">
                <a:solidFill>
                  <a:srgbClr val="000000"/>
                </a:solidFill>
                <a:latin typeface="Times New Roman Bold"/>
                <a:ea typeface="Times New Roman Bold"/>
                <a:cs typeface="Times New Roman Bold"/>
                <a:sym typeface="Times New Roman Bold"/>
              </a:rPr>
              <a:t>ADVAYAM STARTER KIT</a:t>
            </a:r>
          </a:p>
        </p:txBody>
      </p:sp>
      <p:sp>
        <p:nvSpPr>
          <p:cNvPr id="25" name="TextBox 12">
            <a:extLst>
              <a:ext uri="{FF2B5EF4-FFF2-40B4-BE49-F238E27FC236}">
                <a16:creationId xmlns:a16="http://schemas.microsoft.com/office/drawing/2014/main" id="{9AE5BB6B-F39C-670D-0A14-F9EADEF2E777}"/>
              </a:ext>
            </a:extLst>
          </p:cNvPr>
          <p:cNvSpPr txBox="1"/>
          <p:nvPr/>
        </p:nvSpPr>
        <p:spPr>
          <a:xfrm>
            <a:off x="1285432" y="6832575"/>
            <a:ext cx="2248495" cy="226695"/>
          </a:xfrm>
          <a:prstGeom prst="rect">
            <a:avLst/>
          </a:prstGeom>
        </p:spPr>
        <p:txBody>
          <a:bodyPr lIns="0" tIns="0" rIns="0" bIns="0" rtlCol="0" anchor="t">
            <a:spAutoFit/>
          </a:bodyPr>
          <a:lstStyle/>
          <a:p>
            <a:pPr algn="ctr">
              <a:lnSpc>
                <a:spcPts val="1679"/>
              </a:lnSpc>
              <a:spcBef>
                <a:spcPct val="0"/>
              </a:spcBef>
            </a:pPr>
            <a:r>
              <a:rPr lang="en-US" sz="1200" b="1" dirty="0">
                <a:solidFill>
                  <a:srgbClr val="000000"/>
                </a:solidFill>
                <a:latin typeface="Times New Roman Bold"/>
                <a:ea typeface="Times New Roman Bold"/>
                <a:cs typeface="Times New Roman Bold"/>
                <a:sym typeface="Times New Roman Bold"/>
              </a:rPr>
              <a:t>ADVAYAM ETHERNET BOARD</a:t>
            </a:r>
          </a:p>
        </p:txBody>
      </p:sp>
      <p:sp>
        <p:nvSpPr>
          <p:cNvPr id="26" name="TextBox 13">
            <a:extLst>
              <a:ext uri="{FF2B5EF4-FFF2-40B4-BE49-F238E27FC236}">
                <a16:creationId xmlns:a16="http://schemas.microsoft.com/office/drawing/2014/main" id="{CCC4A497-802F-5F89-44C9-EEAD4CDACEED}"/>
              </a:ext>
            </a:extLst>
          </p:cNvPr>
          <p:cNvSpPr txBox="1"/>
          <p:nvPr/>
        </p:nvSpPr>
        <p:spPr>
          <a:xfrm>
            <a:off x="5798216" y="6832575"/>
            <a:ext cx="2838748" cy="226695"/>
          </a:xfrm>
          <a:prstGeom prst="rect">
            <a:avLst/>
          </a:prstGeom>
        </p:spPr>
        <p:txBody>
          <a:bodyPr lIns="0" tIns="0" rIns="0" bIns="0" rtlCol="0" anchor="t">
            <a:spAutoFit/>
          </a:bodyPr>
          <a:lstStyle/>
          <a:p>
            <a:pPr algn="ctr">
              <a:lnSpc>
                <a:spcPts val="1679"/>
              </a:lnSpc>
              <a:spcBef>
                <a:spcPct val="0"/>
              </a:spcBef>
            </a:pPr>
            <a:r>
              <a:rPr lang="en-US" sz="1200" b="1" dirty="0">
                <a:solidFill>
                  <a:srgbClr val="000000"/>
                </a:solidFill>
                <a:latin typeface="Times New Roman Bold"/>
                <a:ea typeface="Times New Roman Bold"/>
                <a:cs typeface="Times New Roman Bold"/>
                <a:sym typeface="Times New Roman Bold"/>
              </a:rPr>
              <a:t>ADVAYAM 4 CHANNEL RELAY BOARD</a:t>
            </a:r>
          </a:p>
        </p:txBody>
      </p:sp>
      <p:sp>
        <p:nvSpPr>
          <p:cNvPr id="27" name="TextBox 12">
            <a:extLst>
              <a:ext uri="{FF2B5EF4-FFF2-40B4-BE49-F238E27FC236}">
                <a16:creationId xmlns:a16="http://schemas.microsoft.com/office/drawing/2014/main" id="{A859C82D-3A7C-DEE0-1A05-7788A3F85D5A}"/>
              </a:ext>
            </a:extLst>
          </p:cNvPr>
          <p:cNvSpPr txBox="1"/>
          <p:nvPr/>
        </p:nvSpPr>
        <p:spPr>
          <a:xfrm>
            <a:off x="1371601" y="6591493"/>
            <a:ext cx="3286574" cy="199542"/>
          </a:xfrm>
          <a:prstGeom prst="rect">
            <a:avLst/>
          </a:prstGeom>
        </p:spPr>
        <p:txBody>
          <a:bodyPr wrap="square" lIns="0" tIns="0" rIns="0" bIns="0" rtlCol="0" anchor="t">
            <a:spAutoFit/>
          </a:bodyPr>
          <a:lstStyle/>
          <a:p>
            <a:pPr algn="ctr">
              <a:lnSpc>
                <a:spcPts val="1679"/>
              </a:lnSpc>
              <a:spcBef>
                <a:spcPct val="0"/>
              </a:spcBef>
            </a:pPr>
            <a:r>
              <a:rPr lang="en-US" sz="1200" b="1" dirty="0">
                <a:solidFill>
                  <a:srgbClr val="000000"/>
                </a:solidFill>
                <a:latin typeface="Times New Roman Bold"/>
                <a:ea typeface="Times New Roman Bold"/>
                <a:cs typeface="Times New Roman Bold"/>
                <a:sym typeface="Times New Roman Bold"/>
              </a:rPr>
              <a:t>ADVAYAM ETHERNET BOARD – Test modules </a:t>
            </a:r>
          </a:p>
        </p:txBody>
      </p:sp>
      <p:sp>
        <p:nvSpPr>
          <p:cNvPr id="28" name="TextBox 13">
            <a:extLst>
              <a:ext uri="{FF2B5EF4-FFF2-40B4-BE49-F238E27FC236}">
                <a16:creationId xmlns:a16="http://schemas.microsoft.com/office/drawing/2014/main" id="{F0034C0A-A0EA-AADA-4F40-2ED115F5E54C}"/>
              </a:ext>
            </a:extLst>
          </p:cNvPr>
          <p:cNvSpPr txBox="1"/>
          <p:nvPr/>
        </p:nvSpPr>
        <p:spPr>
          <a:xfrm>
            <a:off x="5305526" y="6549104"/>
            <a:ext cx="4231341" cy="199542"/>
          </a:xfrm>
          <a:prstGeom prst="rect">
            <a:avLst/>
          </a:prstGeom>
        </p:spPr>
        <p:txBody>
          <a:bodyPr wrap="square" lIns="0" tIns="0" rIns="0" bIns="0" rtlCol="0" anchor="t">
            <a:spAutoFit/>
          </a:bodyPr>
          <a:lstStyle/>
          <a:p>
            <a:pPr algn="ctr">
              <a:lnSpc>
                <a:spcPts val="1679"/>
              </a:lnSpc>
              <a:spcBef>
                <a:spcPct val="0"/>
              </a:spcBef>
            </a:pPr>
            <a:r>
              <a:rPr lang="en-US" sz="1200" b="1" dirty="0">
                <a:solidFill>
                  <a:srgbClr val="000000"/>
                </a:solidFill>
                <a:latin typeface="Times New Roman Bold"/>
                <a:ea typeface="Times New Roman Bold"/>
                <a:cs typeface="Times New Roman Bold"/>
                <a:sym typeface="Times New Roman Bold"/>
              </a:rPr>
              <a:t>ADVAYAM 4 CHANNEL RELAY BOARD - – Test modules </a:t>
            </a:r>
          </a:p>
        </p:txBody>
      </p:sp>
      <p:sp>
        <p:nvSpPr>
          <p:cNvPr id="3" name="Rectangle 2">
            <a:extLst>
              <a:ext uri="{FF2B5EF4-FFF2-40B4-BE49-F238E27FC236}">
                <a16:creationId xmlns:a16="http://schemas.microsoft.com/office/drawing/2014/main" id="{44F2C30D-3EDC-41E5-BA69-E59B307A30A9}"/>
              </a:ext>
            </a:extLst>
          </p:cNvPr>
          <p:cNvSpPr/>
          <p:nvPr/>
        </p:nvSpPr>
        <p:spPr>
          <a:xfrm>
            <a:off x="2320669" y="0"/>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5" name="TextBox 7">
            <a:extLst>
              <a:ext uri="{FF2B5EF4-FFF2-40B4-BE49-F238E27FC236}">
                <a16:creationId xmlns:a16="http://schemas.microsoft.com/office/drawing/2014/main" id="{73DB68D3-FB8F-9C3D-0789-43EF4D329722}"/>
              </a:ext>
            </a:extLst>
          </p:cNvPr>
          <p:cNvSpPr txBox="1"/>
          <p:nvPr/>
        </p:nvSpPr>
        <p:spPr>
          <a:xfrm>
            <a:off x="3084048" y="508317"/>
            <a:ext cx="3737903" cy="266098"/>
          </a:xfrm>
          <a:prstGeom prst="rect">
            <a:avLst/>
          </a:prstGeom>
        </p:spPr>
        <p:txBody>
          <a:bodyPr lIns="0" tIns="0" rIns="0" bIns="0" rtlCol="0" anchor="t">
            <a:spAutoFit/>
          </a:bodyPr>
          <a:lstStyle/>
          <a:p>
            <a:pPr algn="ctr">
              <a:lnSpc>
                <a:spcPts val="2239"/>
              </a:lnSpc>
              <a:spcBef>
                <a:spcPct val="0"/>
              </a:spcBef>
            </a:pPr>
            <a:r>
              <a:rPr lang="en-US" sz="1600" dirty="0">
                <a:solidFill>
                  <a:schemeClr val="accent1">
                    <a:lumMod val="75000"/>
                  </a:schemeClr>
                </a:solidFill>
                <a:sym typeface="Times New Roman Bold"/>
              </a:rPr>
              <a:t>Boards Released</a:t>
            </a:r>
          </a:p>
        </p:txBody>
      </p:sp>
      <p:pic>
        <p:nvPicPr>
          <p:cNvPr id="7" name="Picture 6">
            <a:extLst>
              <a:ext uri="{FF2B5EF4-FFF2-40B4-BE49-F238E27FC236}">
                <a16:creationId xmlns:a16="http://schemas.microsoft.com/office/drawing/2014/main" id="{D73ABE02-6E62-66B9-E531-8EAADC36AA05}"/>
              </a:ext>
            </a:extLst>
          </p:cNvPr>
          <p:cNvPicPr>
            <a:picLocks noChangeAspect="1"/>
          </p:cNvPicPr>
          <p:nvPr/>
        </p:nvPicPr>
        <p:blipFill>
          <a:blip r:embed="rId5"/>
          <a:srcRect l="3916" t="3507" r="3916" b="3507"/>
          <a:stretch>
            <a:fillRect/>
          </a:stretch>
        </p:blipFill>
        <p:spPr>
          <a:xfrm>
            <a:off x="5125405" y="780081"/>
            <a:ext cx="3951867" cy="2638293"/>
          </a:xfrm>
          <a:prstGeom prst="rect">
            <a:avLst/>
          </a:prstGeom>
        </p:spPr>
      </p:pic>
      <p:pic>
        <p:nvPicPr>
          <p:cNvPr id="9" name="Picture 8">
            <a:extLst>
              <a:ext uri="{FF2B5EF4-FFF2-40B4-BE49-F238E27FC236}">
                <a16:creationId xmlns:a16="http://schemas.microsoft.com/office/drawing/2014/main" id="{82FCD41F-9EB3-60CA-772C-38073B34D26E}"/>
              </a:ext>
            </a:extLst>
          </p:cNvPr>
          <p:cNvPicPr>
            <a:picLocks noChangeAspect="1"/>
          </p:cNvPicPr>
          <p:nvPr/>
        </p:nvPicPr>
        <p:blipFill>
          <a:blip r:embed="rId6"/>
          <a:srcRect l="49540"/>
          <a:stretch>
            <a:fillRect/>
          </a:stretch>
        </p:blipFill>
        <p:spPr>
          <a:xfrm rot="16200000">
            <a:off x="1480289" y="276291"/>
            <a:ext cx="2318364" cy="3380387"/>
          </a:xfrm>
          <a:prstGeom prst="rect">
            <a:avLst/>
          </a:prstGeom>
        </p:spPr>
      </p:pic>
      <p:sp>
        <p:nvSpPr>
          <p:cNvPr id="10" name="TextBox 11">
            <a:extLst>
              <a:ext uri="{FF2B5EF4-FFF2-40B4-BE49-F238E27FC236}">
                <a16:creationId xmlns:a16="http://schemas.microsoft.com/office/drawing/2014/main" id="{BC41DF07-5595-7A99-17B7-CEAF0CC5BDB7}"/>
              </a:ext>
            </a:extLst>
          </p:cNvPr>
          <p:cNvSpPr txBox="1"/>
          <p:nvPr/>
        </p:nvSpPr>
        <p:spPr>
          <a:xfrm>
            <a:off x="1226905" y="3081312"/>
            <a:ext cx="2825132" cy="199542"/>
          </a:xfrm>
          <a:prstGeom prst="rect">
            <a:avLst/>
          </a:prstGeom>
        </p:spPr>
        <p:txBody>
          <a:bodyPr wrap="square" lIns="0" tIns="0" rIns="0" bIns="0" rtlCol="0" anchor="t">
            <a:spAutoFit/>
          </a:bodyPr>
          <a:lstStyle/>
          <a:p>
            <a:pPr algn="ctr">
              <a:lnSpc>
                <a:spcPts val="1679"/>
              </a:lnSpc>
              <a:spcBef>
                <a:spcPct val="0"/>
              </a:spcBef>
            </a:pPr>
            <a:r>
              <a:rPr lang="en-US" sz="1200" b="1" dirty="0">
                <a:solidFill>
                  <a:srgbClr val="000000"/>
                </a:solidFill>
                <a:latin typeface="Times New Roman Bold"/>
                <a:ea typeface="Times New Roman Bold"/>
                <a:cs typeface="Times New Roman Bold"/>
                <a:sym typeface="Times New Roman Bold"/>
              </a:rPr>
              <a:t>ADVAYAM Renesas RA4M starter kit</a:t>
            </a:r>
          </a:p>
        </p:txBody>
      </p:sp>
    </p:spTree>
    <p:extLst>
      <p:ext uri="{BB962C8B-B14F-4D97-AF65-F5344CB8AC3E}">
        <p14:creationId xmlns:p14="http://schemas.microsoft.com/office/powerpoint/2010/main" val="464973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6DD78C6-A690-C0BA-2D8C-DC9A4728A572}"/>
              </a:ext>
            </a:extLst>
          </p:cNvPr>
          <p:cNvPicPr>
            <a:picLocks noChangeAspect="1"/>
          </p:cNvPicPr>
          <p:nvPr/>
        </p:nvPicPr>
        <p:blipFill rotWithShape="1">
          <a:blip r:embed="rId2">
            <a:extLst>
              <a:ext uri="{28A0092B-C50C-407E-A947-70E740481C1C}">
                <a14:useLocalDpi xmlns:a14="http://schemas.microsoft.com/office/drawing/2010/main" val="0"/>
              </a:ext>
            </a:extLst>
          </a:blip>
          <a:srcRect l="11988" t="10207" r="11280" b="14094"/>
          <a:stretch>
            <a:fillRect/>
          </a:stretch>
        </p:blipFill>
        <p:spPr bwMode="auto">
          <a:xfrm>
            <a:off x="286385" y="607018"/>
            <a:ext cx="3968115" cy="2950570"/>
          </a:xfrm>
          <a:prstGeom prst="rect">
            <a:avLst/>
          </a:prstGeom>
          <a:noFill/>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E22FE89B-5CC3-4A5D-F5EF-06380FFF85F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207" t="5893" r="13927" b="5992"/>
          <a:stretch>
            <a:fillRect/>
          </a:stretch>
        </p:blipFill>
        <p:spPr bwMode="auto">
          <a:xfrm>
            <a:off x="286385" y="3870601"/>
            <a:ext cx="3968115" cy="2704377"/>
          </a:xfrm>
          <a:prstGeom prst="rect">
            <a:avLst/>
          </a:prstGeom>
          <a:noFill/>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0A7B7B89-7E9B-1531-F91E-C0011A4DFA5E}"/>
              </a:ext>
            </a:extLst>
          </p:cNvPr>
          <p:cNvSpPr txBox="1"/>
          <p:nvPr/>
        </p:nvSpPr>
        <p:spPr>
          <a:xfrm>
            <a:off x="0" y="0"/>
            <a:ext cx="4889500" cy="641971"/>
          </a:xfrm>
          <a:prstGeom prst="rect">
            <a:avLst/>
          </a:prstGeom>
          <a:noFill/>
        </p:spPr>
        <p:txBody>
          <a:bodyPr wrap="square">
            <a:spAutoFit/>
          </a:bodyPr>
          <a:lstStyle/>
          <a:p>
            <a:pPr algn="ctr">
              <a:lnSpc>
                <a:spcPct val="115000"/>
              </a:lnSpc>
              <a:spcAft>
                <a:spcPts val="1000"/>
              </a:spcAft>
              <a:buNone/>
            </a:pPr>
            <a:r>
              <a:rPr lang="en-US" sz="1600" dirty="0">
                <a:effectLst/>
                <a:latin typeface="Calibri" panose="020F0502020204030204" pitchFamily="34" charset="0"/>
                <a:ea typeface="SimSun" panose="02010600030101010101" pitchFamily="2" charset="-122"/>
                <a:cs typeface="Times New Roman" panose="02020603050405020304" pitchFamily="18" charset="0"/>
              </a:rPr>
              <a:t>Advayam Thejas board based on VEGA microcontroller </a:t>
            </a:r>
            <a:br>
              <a:rPr lang="en-US" sz="1600" dirty="0">
                <a:effectLst/>
                <a:latin typeface="Calibri" panose="020F0502020204030204" pitchFamily="34" charset="0"/>
                <a:ea typeface="SimSun" panose="02010600030101010101" pitchFamily="2" charset="-122"/>
                <a:cs typeface="Times New Roman" panose="02020603050405020304" pitchFamily="18" charset="0"/>
              </a:rPr>
            </a:br>
            <a:r>
              <a:rPr lang="en-US" sz="1600" dirty="0">
                <a:effectLst/>
                <a:latin typeface="Calibri" panose="020F0502020204030204" pitchFamily="34" charset="0"/>
                <a:ea typeface="SimSun" panose="02010600030101010101" pitchFamily="2" charset="-122"/>
                <a:cs typeface="Times New Roman" panose="02020603050405020304" pitchFamily="18" charset="0"/>
              </a:rPr>
              <a:t>developed by CDAC, Govt of India </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3" name="TextBox 12">
            <a:extLst>
              <a:ext uri="{FF2B5EF4-FFF2-40B4-BE49-F238E27FC236}">
                <a16:creationId xmlns:a16="http://schemas.microsoft.com/office/drawing/2014/main" id="{8ABA4541-07E5-BEB9-A0EB-80CB4D45E7D8}"/>
              </a:ext>
            </a:extLst>
          </p:cNvPr>
          <p:cNvSpPr txBox="1"/>
          <p:nvPr/>
        </p:nvSpPr>
        <p:spPr>
          <a:xfrm>
            <a:off x="5130798" y="3049429"/>
            <a:ext cx="2755902" cy="276999"/>
          </a:xfrm>
          <a:prstGeom prst="rect">
            <a:avLst/>
          </a:prstGeom>
          <a:noFill/>
        </p:spPr>
        <p:txBody>
          <a:bodyPr wrap="square">
            <a:spAutoFit/>
          </a:bodyPr>
          <a:lstStyle/>
          <a:p>
            <a:r>
              <a:rPr lang="en-US" sz="1200" dirty="0"/>
              <a:t>Advayam Control Menus </a:t>
            </a:r>
            <a:endParaRPr lang="en-IN" sz="1200" dirty="0"/>
          </a:p>
        </p:txBody>
      </p:sp>
      <p:sp>
        <p:nvSpPr>
          <p:cNvPr id="14" name="TextBox 13">
            <a:extLst>
              <a:ext uri="{FF2B5EF4-FFF2-40B4-BE49-F238E27FC236}">
                <a16:creationId xmlns:a16="http://schemas.microsoft.com/office/drawing/2014/main" id="{F00CD2AB-BA95-D596-6BFA-A0CA38C77CD0}"/>
              </a:ext>
            </a:extLst>
          </p:cNvPr>
          <p:cNvSpPr txBox="1"/>
          <p:nvPr/>
        </p:nvSpPr>
        <p:spPr>
          <a:xfrm>
            <a:off x="286384" y="6514297"/>
            <a:ext cx="1847215" cy="292259"/>
          </a:xfrm>
          <a:prstGeom prst="rect">
            <a:avLst/>
          </a:prstGeom>
          <a:noFill/>
        </p:spPr>
        <p:txBody>
          <a:bodyPr wrap="square">
            <a:spAutoFit/>
          </a:bodyPr>
          <a:lstStyle/>
          <a:p>
            <a:pPr>
              <a:lnSpc>
                <a:spcPct val="115000"/>
              </a:lnSpc>
              <a:spcAft>
                <a:spcPts val="1000"/>
              </a:spcAft>
              <a:buNone/>
            </a:pPr>
            <a:r>
              <a:rPr lang="en-US" sz="1200" dirty="0">
                <a:latin typeface="Calibri" panose="020F0502020204030204" pitchFamily="34" charset="0"/>
                <a:ea typeface="SimSun" panose="02010600030101010101" pitchFamily="2" charset="-122"/>
                <a:cs typeface="Times New Roman" panose="02020603050405020304" pitchFamily="18" charset="0"/>
              </a:rPr>
              <a:t>Bottom Side</a:t>
            </a:r>
            <a:r>
              <a:rPr lang="en-US" sz="1200" dirty="0">
                <a:effectLst/>
                <a:latin typeface="Calibri" panose="020F0502020204030204" pitchFamily="34" charset="0"/>
                <a:ea typeface="SimSun" panose="02010600030101010101" pitchFamily="2" charset="-122"/>
                <a:cs typeface="Times New Roman" panose="02020603050405020304" pitchFamily="18" charset="0"/>
              </a:rPr>
              <a:t> </a:t>
            </a:r>
            <a:r>
              <a:rPr lang="en-US" sz="1100" dirty="0">
                <a:effectLst/>
                <a:latin typeface="Calibri" panose="020F0502020204030204" pitchFamily="34" charset="0"/>
                <a:ea typeface="SimSun" panose="02010600030101010101" pitchFamily="2" charset="-122"/>
                <a:cs typeface="Times New Roman" panose="02020603050405020304" pitchFamily="18" charset="0"/>
              </a:rPr>
              <a:t> </a:t>
            </a:r>
            <a:endParaRPr lang="en-IN" sz="1100" dirty="0">
              <a:effectLst/>
              <a:latin typeface="Calibri" panose="020F0502020204030204" pitchFamily="34" charset="0"/>
              <a:ea typeface="SimSun" panose="02010600030101010101" pitchFamily="2" charset="-122"/>
              <a:cs typeface="Times New Roman" panose="02020603050405020304" pitchFamily="18" charset="0"/>
            </a:endParaRPr>
          </a:p>
        </p:txBody>
      </p:sp>
      <p:pic>
        <p:nvPicPr>
          <p:cNvPr id="15" name="Picture 14">
            <a:extLst>
              <a:ext uri="{FF2B5EF4-FFF2-40B4-BE49-F238E27FC236}">
                <a16:creationId xmlns:a16="http://schemas.microsoft.com/office/drawing/2014/main" id="{BA680FC9-062F-E114-6A81-B4DD2B086AA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30799" y="607018"/>
            <a:ext cx="4402141" cy="2476204"/>
          </a:xfrm>
          <a:prstGeom prst="rect">
            <a:avLst/>
          </a:prstGeom>
          <a:noFill/>
          <a:ln>
            <a:noFill/>
          </a:ln>
        </p:spPr>
      </p:pic>
      <p:sp>
        <p:nvSpPr>
          <p:cNvPr id="16" name="TextBox 15">
            <a:extLst>
              <a:ext uri="{FF2B5EF4-FFF2-40B4-BE49-F238E27FC236}">
                <a16:creationId xmlns:a16="http://schemas.microsoft.com/office/drawing/2014/main" id="{6B7CCC1C-CD59-D93A-27EC-118FB38AA685}"/>
              </a:ext>
            </a:extLst>
          </p:cNvPr>
          <p:cNvSpPr txBox="1"/>
          <p:nvPr/>
        </p:nvSpPr>
        <p:spPr>
          <a:xfrm>
            <a:off x="4953000" y="-34953"/>
            <a:ext cx="4889500" cy="641971"/>
          </a:xfrm>
          <a:prstGeom prst="rect">
            <a:avLst/>
          </a:prstGeom>
          <a:noFill/>
        </p:spPr>
        <p:txBody>
          <a:bodyPr wrap="square">
            <a:spAutoFit/>
          </a:bodyPr>
          <a:lstStyle/>
          <a:p>
            <a:pPr algn="ctr">
              <a:lnSpc>
                <a:spcPct val="115000"/>
              </a:lnSpc>
              <a:spcAft>
                <a:spcPts val="1000"/>
              </a:spcAft>
              <a:buNone/>
            </a:pPr>
            <a:r>
              <a:rPr lang="en-US" sz="1600" dirty="0">
                <a:effectLst/>
                <a:latin typeface="Calibri" panose="020F0502020204030204" pitchFamily="34" charset="0"/>
                <a:ea typeface="SimSun" panose="02010600030101010101" pitchFamily="2" charset="-122"/>
                <a:cs typeface="Times New Roman" panose="02020603050405020304" pitchFamily="18" charset="0"/>
              </a:rPr>
              <a:t>Advayam  Integrated Development Environment (IDE) for C, C++, Arduino and Free RTOS  </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7" name="TextBox 16">
            <a:extLst>
              <a:ext uri="{FF2B5EF4-FFF2-40B4-BE49-F238E27FC236}">
                <a16:creationId xmlns:a16="http://schemas.microsoft.com/office/drawing/2014/main" id="{936D1068-99A2-2DE9-2A48-6D7A767D4928}"/>
              </a:ext>
            </a:extLst>
          </p:cNvPr>
          <p:cNvSpPr txBox="1"/>
          <p:nvPr/>
        </p:nvSpPr>
        <p:spPr>
          <a:xfrm>
            <a:off x="286384" y="3527248"/>
            <a:ext cx="1847215" cy="292259"/>
          </a:xfrm>
          <a:prstGeom prst="rect">
            <a:avLst/>
          </a:prstGeom>
          <a:noFill/>
        </p:spPr>
        <p:txBody>
          <a:bodyPr wrap="square">
            <a:spAutoFit/>
          </a:bodyPr>
          <a:lstStyle/>
          <a:p>
            <a:pPr>
              <a:lnSpc>
                <a:spcPct val="115000"/>
              </a:lnSpc>
              <a:spcAft>
                <a:spcPts val="1000"/>
              </a:spcAft>
              <a:buNone/>
            </a:pPr>
            <a:r>
              <a:rPr lang="en-US" sz="1200" dirty="0">
                <a:latin typeface="Calibri" panose="020F0502020204030204" pitchFamily="34" charset="0"/>
                <a:ea typeface="SimSun" panose="02010600030101010101" pitchFamily="2" charset="-122"/>
                <a:cs typeface="Times New Roman" panose="02020603050405020304" pitchFamily="18" charset="0"/>
              </a:rPr>
              <a:t>Top Side</a:t>
            </a:r>
            <a:r>
              <a:rPr lang="en-US" sz="1200" dirty="0">
                <a:effectLst/>
                <a:latin typeface="Calibri" panose="020F0502020204030204" pitchFamily="34" charset="0"/>
                <a:ea typeface="SimSun" panose="02010600030101010101" pitchFamily="2" charset="-122"/>
                <a:cs typeface="Times New Roman" panose="02020603050405020304" pitchFamily="18" charset="0"/>
              </a:rPr>
              <a:t> </a:t>
            </a:r>
            <a:r>
              <a:rPr lang="en-US" sz="1100" dirty="0">
                <a:effectLst/>
                <a:latin typeface="Calibri" panose="020F0502020204030204" pitchFamily="34" charset="0"/>
                <a:ea typeface="SimSun" panose="02010600030101010101" pitchFamily="2" charset="-122"/>
                <a:cs typeface="Times New Roman" panose="02020603050405020304" pitchFamily="18" charset="0"/>
              </a:rPr>
              <a:t> </a:t>
            </a:r>
            <a:endParaRPr lang="en-IN" sz="1100" dirty="0">
              <a:effectLst/>
              <a:latin typeface="Calibri" panose="020F0502020204030204" pitchFamily="34" charset="0"/>
              <a:ea typeface="SimSun" panose="02010600030101010101" pitchFamily="2" charset="-122"/>
              <a:cs typeface="Times New Roman" panose="02020603050405020304" pitchFamily="18" charset="0"/>
            </a:endParaRPr>
          </a:p>
        </p:txBody>
      </p:sp>
      <p:pic>
        <p:nvPicPr>
          <p:cNvPr id="18" name="Picture 17">
            <a:extLst>
              <a:ext uri="{FF2B5EF4-FFF2-40B4-BE49-F238E27FC236}">
                <a16:creationId xmlns:a16="http://schemas.microsoft.com/office/drawing/2014/main" id="{CEA7CDEF-CA6F-476D-E4AE-EA8492B3B9F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0798" y="3819507"/>
            <a:ext cx="4402141" cy="2476204"/>
          </a:xfrm>
          <a:prstGeom prst="rect">
            <a:avLst/>
          </a:prstGeom>
          <a:noFill/>
          <a:ln>
            <a:noFill/>
          </a:ln>
        </p:spPr>
      </p:pic>
      <p:sp>
        <p:nvSpPr>
          <p:cNvPr id="20" name="TextBox 19">
            <a:extLst>
              <a:ext uri="{FF2B5EF4-FFF2-40B4-BE49-F238E27FC236}">
                <a16:creationId xmlns:a16="http://schemas.microsoft.com/office/drawing/2014/main" id="{3E902A02-1483-ADE8-D001-753946821CD0}"/>
              </a:ext>
            </a:extLst>
          </p:cNvPr>
          <p:cNvSpPr txBox="1"/>
          <p:nvPr/>
        </p:nvSpPr>
        <p:spPr>
          <a:xfrm>
            <a:off x="5130798" y="6295710"/>
            <a:ext cx="1847214" cy="292259"/>
          </a:xfrm>
          <a:prstGeom prst="rect">
            <a:avLst/>
          </a:prstGeom>
          <a:noFill/>
        </p:spPr>
        <p:txBody>
          <a:bodyPr wrap="square">
            <a:spAutoFit/>
          </a:bodyPr>
          <a:lstStyle/>
          <a:p>
            <a:pPr>
              <a:lnSpc>
                <a:spcPct val="115000"/>
              </a:lnSpc>
              <a:spcAft>
                <a:spcPts val="1000"/>
              </a:spcAft>
              <a:buNone/>
            </a:pPr>
            <a:r>
              <a:rPr lang="en-US" sz="1200" dirty="0"/>
              <a:t>Board Manager Section </a:t>
            </a:r>
            <a:endParaRPr lang="en-IN" sz="1200" dirty="0"/>
          </a:p>
        </p:txBody>
      </p:sp>
    </p:spTree>
    <p:extLst>
      <p:ext uri="{BB962C8B-B14F-4D97-AF65-F5344CB8AC3E}">
        <p14:creationId xmlns:p14="http://schemas.microsoft.com/office/powerpoint/2010/main" val="2779563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B55A96-7B3F-7B1D-A5E9-352C52B71C66}"/>
              </a:ext>
            </a:extLst>
          </p:cNvPr>
          <p:cNvPicPr>
            <a:picLocks noChangeAspect="1"/>
          </p:cNvPicPr>
          <p:nvPr/>
        </p:nvPicPr>
        <p:blipFill>
          <a:blip r:embed="rId2"/>
          <a:stretch>
            <a:fillRect/>
          </a:stretch>
        </p:blipFill>
        <p:spPr>
          <a:xfrm>
            <a:off x="266700" y="343217"/>
            <a:ext cx="4584700" cy="3095163"/>
          </a:xfrm>
          <a:prstGeom prst="rect">
            <a:avLst/>
          </a:prstGeom>
          <a:ln>
            <a:solidFill>
              <a:schemeClr val="accent1"/>
            </a:solidFill>
          </a:ln>
        </p:spPr>
      </p:pic>
      <p:sp>
        <p:nvSpPr>
          <p:cNvPr id="6" name="Rectangle 5">
            <a:extLst>
              <a:ext uri="{FF2B5EF4-FFF2-40B4-BE49-F238E27FC236}">
                <a16:creationId xmlns:a16="http://schemas.microsoft.com/office/drawing/2014/main" id="{192F50FC-134A-6826-81C0-69ED55B2C611}"/>
              </a:ext>
            </a:extLst>
          </p:cNvPr>
          <p:cNvSpPr/>
          <p:nvPr/>
        </p:nvSpPr>
        <p:spPr>
          <a:xfrm>
            <a:off x="2338598" y="-26633"/>
            <a:ext cx="6701172" cy="369332"/>
          </a:xfrm>
          <a:prstGeom prst="rect">
            <a:avLst/>
          </a:prstGeom>
        </p:spPr>
        <p:txBody>
          <a:bodyPr wrap="square">
            <a:spAutoFit/>
          </a:bodyPr>
          <a:lstStyle/>
          <a:p>
            <a:pPr algn="ctr"/>
            <a:r>
              <a:rPr lang="en-US" sz="1600" dirty="0">
                <a:solidFill>
                  <a:srgbClr val="BE5209"/>
                </a:solidFill>
                <a:latin typeface="Segoe UI" panose="020B0502040204020203" pitchFamily="34" charset="0"/>
                <a:cs typeface="Segoe UI" panose="020B0502040204020203" pitchFamily="34" charset="0"/>
              </a:rPr>
              <a:t>Advayam</a:t>
            </a:r>
            <a:r>
              <a:rPr lang="en-US" dirty="0">
                <a:solidFill>
                  <a:srgbClr val="BE5209"/>
                </a:solidFill>
                <a:latin typeface="Segoe UI" panose="020B0502040204020203" pitchFamily="34" charset="0"/>
                <a:cs typeface="Segoe UI" panose="020B0502040204020203" pitchFamily="34" charset="0"/>
              </a:rPr>
              <a:t> – </a:t>
            </a:r>
            <a:r>
              <a:rPr lang="en-US" dirty="0">
                <a:solidFill>
                  <a:srgbClr val="BE5209"/>
                </a:solidFill>
                <a:latin typeface="Segoe UI" panose="020B0502040204020203" pitchFamily="34" charset="0"/>
                <a:cs typeface="Segoe UI" panose="020B0502040204020203" pitchFamily="34" charset="0"/>
                <a:hlinkClick r:id="rId3"/>
              </a:rPr>
              <a:t>https://www.advayamtech.in/</a:t>
            </a:r>
            <a:r>
              <a:rPr lang="en-US" dirty="0">
                <a:solidFill>
                  <a:srgbClr val="BE5209"/>
                </a:solidFill>
                <a:latin typeface="Segoe UI" panose="020B0502040204020203" pitchFamily="34" charset="0"/>
                <a:cs typeface="Segoe UI" panose="020B0502040204020203" pitchFamily="34" charset="0"/>
              </a:rPr>
              <a:t>  </a:t>
            </a:r>
            <a:endParaRPr lang="en-IN" sz="1400" dirty="0">
              <a:solidFill>
                <a:srgbClr val="BE5209"/>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36024E16-1E19-14FF-90A6-D5704BF0874E}"/>
              </a:ext>
            </a:extLst>
          </p:cNvPr>
          <p:cNvPicPr>
            <a:picLocks noChangeAspect="1"/>
          </p:cNvPicPr>
          <p:nvPr/>
        </p:nvPicPr>
        <p:blipFill>
          <a:blip r:embed="rId4"/>
          <a:stretch>
            <a:fillRect/>
          </a:stretch>
        </p:blipFill>
        <p:spPr>
          <a:xfrm>
            <a:off x="5054602" y="342699"/>
            <a:ext cx="4584699" cy="4361753"/>
          </a:xfrm>
          <a:prstGeom prst="rect">
            <a:avLst/>
          </a:prstGeom>
          <a:ln>
            <a:solidFill>
              <a:schemeClr val="accent1"/>
            </a:solidFill>
          </a:ln>
        </p:spPr>
      </p:pic>
      <p:pic>
        <p:nvPicPr>
          <p:cNvPr id="9" name="Picture 8">
            <a:extLst>
              <a:ext uri="{FF2B5EF4-FFF2-40B4-BE49-F238E27FC236}">
                <a16:creationId xmlns:a16="http://schemas.microsoft.com/office/drawing/2014/main" id="{085A084B-839B-6311-1C1A-9BE0A3938F5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2896" t="7958" r="12874" b="9138"/>
          <a:stretch>
            <a:fillRect/>
          </a:stretch>
        </p:blipFill>
        <p:spPr bwMode="auto">
          <a:xfrm>
            <a:off x="266699" y="3659360"/>
            <a:ext cx="4610100" cy="2873575"/>
          </a:xfrm>
          <a:prstGeom prst="rect">
            <a:avLst/>
          </a:prstGeom>
          <a:noFill/>
          <a:ln>
            <a:solidFill>
              <a:schemeClr val="accent1"/>
            </a:solid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D2B76F56-C64B-1644-CEEE-CD2DEEB4390B}"/>
              </a:ext>
            </a:extLst>
          </p:cNvPr>
          <p:cNvSpPr txBox="1"/>
          <p:nvPr/>
        </p:nvSpPr>
        <p:spPr>
          <a:xfrm>
            <a:off x="5232402" y="5531980"/>
            <a:ext cx="876298" cy="929357"/>
          </a:xfrm>
          <a:prstGeom prst="rect">
            <a:avLst/>
          </a:prstGeom>
          <a:noFill/>
        </p:spPr>
        <p:txBody>
          <a:bodyPr wrap="square">
            <a:spAutoFit/>
          </a:bodyPr>
          <a:lstStyle/>
          <a:p>
            <a:pPr algn="ctr">
              <a:lnSpc>
                <a:spcPct val="115000"/>
              </a:lnSpc>
              <a:spcAft>
                <a:spcPts val="1000"/>
              </a:spcAft>
              <a:buNone/>
            </a:pPr>
            <a:r>
              <a:rPr lang="en-US" sz="1200" dirty="0">
                <a:latin typeface="Calibri" panose="020F0502020204030204" pitchFamily="34" charset="0"/>
                <a:ea typeface="SimSun" panose="02010600030101010101" pitchFamily="2" charset="-122"/>
                <a:cs typeface="Times New Roman" panose="02020603050405020304" pitchFamily="18" charset="0"/>
              </a:rPr>
              <a:t>LED Flasher Demo program </a:t>
            </a:r>
            <a:endParaRPr lang="en-IN"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12" name="TextBox 11">
            <a:extLst>
              <a:ext uri="{FF2B5EF4-FFF2-40B4-BE49-F238E27FC236}">
                <a16:creationId xmlns:a16="http://schemas.microsoft.com/office/drawing/2014/main" id="{50948C49-D536-924C-C0E3-38E0C8A06EBE}"/>
              </a:ext>
            </a:extLst>
          </p:cNvPr>
          <p:cNvSpPr txBox="1"/>
          <p:nvPr/>
        </p:nvSpPr>
        <p:spPr>
          <a:xfrm>
            <a:off x="3258450" y="4005951"/>
            <a:ext cx="1364349" cy="504625"/>
          </a:xfrm>
          <a:prstGeom prst="rect">
            <a:avLst/>
          </a:prstGeom>
          <a:noFill/>
        </p:spPr>
        <p:txBody>
          <a:bodyPr wrap="square">
            <a:spAutoFit/>
          </a:bodyPr>
          <a:lstStyle/>
          <a:p>
            <a:pPr algn="ctr">
              <a:lnSpc>
                <a:spcPct val="115000"/>
              </a:lnSpc>
              <a:spcAft>
                <a:spcPts val="1000"/>
              </a:spcAft>
              <a:buNone/>
            </a:pPr>
            <a:r>
              <a:rPr lang="en-US" sz="1200" dirty="0">
                <a:latin typeface="Calibri" panose="020F0502020204030204" pitchFamily="34" charset="0"/>
                <a:ea typeface="SimSun" panose="02010600030101010101" pitchFamily="2" charset="-122"/>
                <a:cs typeface="Times New Roman" panose="02020603050405020304" pitchFamily="18" charset="0"/>
              </a:rPr>
              <a:t>Demo Programs page</a:t>
            </a:r>
            <a:endParaRPr lang="en-IN" sz="1100" dirty="0">
              <a:effectLst/>
              <a:latin typeface="Calibri" panose="020F0502020204030204" pitchFamily="34" charset="0"/>
              <a:ea typeface="SimSun" panose="02010600030101010101" pitchFamily="2" charset="-122"/>
              <a:cs typeface="Times New Roman" panose="02020603050405020304" pitchFamily="18" charset="0"/>
            </a:endParaRPr>
          </a:p>
        </p:txBody>
      </p:sp>
      <p:pic>
        <p:nvPicPr>
          <p:cNvPr id="13" name="Picture 12">
            <a:extLst>
              <a:ext uri="{FF2B5EF4-FFF2-40B4-BE49-F238E27FC236}">
                <a16:creationId xmlns:a16="http://schemas.microsoft.com/office/drawing/2014/main" id="{0754180C-50E4-DC72-8BB8-030932B779F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9864" t="16246" r="14819" b="16"/>
          <a:stretch>
            <a:fillRect/>
          </a:stretch>
        </p:blipFill>
        <p:spPr bwMode="auto">
          <a:xfrm>
            <a:off x="6108700" y="4790106"/>
            <a:ext cx="2931070" cy="1988374"/>
          </a:xfrm>
          <a:prstGeom prst="rect">
            <a:avLst/>
          </a:prstGeom>
          <a:noFill/>
          <a:ln>
            <a:solidFill>
              <a:schemeClr val="accent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94552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93C76E-A378-B882-1C73-5C95DDF35AB4}"/>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7" name="Picture 6" descr="Efforts are being exerted to efface unique identity of Bharat, but why?">
            <a:extLst>
              <a:ext uri="{FF2B5EF4-FFF2-40B4-BE49-F238E27FC236}">
                <a16:creationId xmlns:a16="http://schemas.microsoft.com/office/drawing/2014/main" id="{9A8F2E43-30CC-6F65-6CE2-8A64B5BA1D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B4ECA31-62BA-1C5A-C2D4-25DDD2172D95}"/>
              </a:ext>
            </a:extLst>
          </p:cNvPr>
          <p:cNvSpPr/>
          <p:nvPr/>
        </p:nvSpPr>
        <p:spPr>
          <a:xfrm>
            <a:off x="2320669" y="0"/>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1" name="TextBox 7">
            <a:extLst>
              <a:ext uri="{FF2B5EF4-FFF2-40B4-BE49-F238E27FC236}">
                <a16:creationId xmlns:a16="http://schemas.microsoft.com/office/drawing/2014/main" id="{AFA82050-82B3-BFF9-2CFB-765A76F0FF7E}"/>
              </a:ext>
            </a:extLst>
          </p:cNvPr>
          <p:cNvSpPr txBox="1"/>
          <p:nvPr/>
        </p:nvSpPr>
        <p:spPr>
          <a:xfrm>
            <a:off x="3556001" y="577516"/>
            <a:ext cx="4517314" cy="265714"/>
          </a:xfrm>
          <a:prstGeom prst="rect">
            <a:avLst/>
          </a:prstGeom>
        </p:spPr>
        <p:txBody>
          <a:bodyPr wrap="square" lIns="0" tIns="0" rIns="0" bIns="0" rtlCol="0" anchor="t">
            <a:spAutoFit/>
          </a:bodyPr>
          <a:lstStyle/>
          <a:p>
            <a:pPr algn="ctr">
              <a:lnSpc>
                <a:spcPts val="2239"/>
              </a:lnSpc>
              <a:spcBef>
                <a:spcPct val="0"/>
              </a:spcBef>
            </a:pPr>
            <a:r>
              <a:rPr lang="en-US" sz="1600" dirty="0">
                <a:solidFill>
                  <a:schemeClr val="accent1">
                    <a:lumMod val="75000"/>
                  </a:schemeClr>
                </a:solidFill>
              </a:rPr>
              <a:t>What does the project proposal envisage?</a:t>
            </a:r>
            <a:endParaRPr lang="en-IN" sz="1600" dirty="0">
              <a:solidFill>
                <a:schemeClr val="accent1">
                  <a:lumMod val="75000"/>
                </a:schemeClr>
              </a:solidFill>
            </a:endParaRPr>
          </a:p>
        </p:txBody>
      </p:sp>
      <p:sp>
        <p:nvSpPr>
          <p:cNvPr id="21" name="TextBox 20">
            <a:extLst>
              <a:ext uri="{FF2B5EF4-FFF2-40B4-BE49-F238E27FC236}">
                <a16:creationId xmlns:a16="http://schemas.microsoft.com/office/drawing/2014/main" id="{6B2D3D9B-9F1C-0429-470F-FCD569C8221D}"/>
              </a:ext>
            </a:extLst>
          </p:cNvPr>
          <p:cNvSpPr txBox="1"/>
          <p:nvPr/>
        </p:nvSpPr>
        <p:spPr>
          <a:xfrm>
            <a:off x="1832685" y="854515"/>
            <a:ext cx="3136900" cy="5725991"/>
          </a:xfrm>
          <a:prstGeom prst="rect">
            <a:avLst/>
          </a:prstGeom>
          <a:noFill/>
        </p:spPr>
        <p:txBody>
          <a:bodyPr wrap="square">
            <a:spAutoFit/>
          </a:bodyPr>
          <a:lstStyle/>
          <a:p>
            <a:pPr algn="just">
              <a:lnSpc>
                <a:spcPct val="115000"/>
              </a:lnSpc>
              <a:spcAft>
                <a:spcPts val="1000"/>
              </a:spcAft>
              <a:buNone/>
            </a:pPr>
            <a:r>
              <a:rPr lang="en-US" sz="1400" dirty="0">
                <a:effectLst/>
                <a:latin typeface="Calibri" panose="020F0502020204030204" pitchFamily="34" charset="0"/>
                <a:ea typeface="SimSun" panose="02010600030101010101" pitchFamily="2" charset="-122"/>
                <a:cs typeface="Times New Roman" panose="02020603050405020304" pitchFamily="18" charset="0"/>
              </a:rPr>
              <a:t>The following has been achieved</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The concept has been proved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The technology framework has been finalised and tested</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Hardware architecture has been finalised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PCB modules developed using multiple microcontrollers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IDE technology conceptualised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IDE developed for C, C++, Arduino and </a:t>
            </a:r>
            <a:r>
              <a:rPr lang="en-US" sz="1400" dirty="0" err="1">
                <a:effectLst/>
                <a:latin typeface="Calibri" panose="020F0502020204030204" pitchFamily="34" charset="0"/>
                <a:ea typeface="SimSun" panose="02010600030101010101" pitchFamily="2" charset="-122"/>
                <a:cs typeface="Times New Roman" panose="02020603050405020304" pitchFamily="18" charset="0"/>
              </a:rPr>
              <a:t>FreeRTOS</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Over 150 applications for learning and testing created</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Website created</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p>
            <a:pPr marL="742950" lvl="1" indent="-285750">
              <a:lnSpc>
                <a:spcPct val="115000"/>
              </a:lnSpc>
              <a:spcBef>
                <a:spcPts val="600"/>
              </a:spcBef>
              <a:spcAft>
                <a:spcPts val="600"/>
              </a:spcAft>
              <a:buFont typeface="+mj-lt"/>
              <a:buAutoNum type="alphaLcPeriod"/>
            </a:pPr>
            <a:r>
              <a:rPr lang="en-US" sz="1400" dirty="0">
                <a:effectLst/>
                <a:latin typeface="Calibri" panose="020F0502020204030204" pitchFamily="34" charset="0"/>
                <a:ea typeface="SimSun" panose="02010600030101010101" pitchFamily="2" charset="-122"/>
                <a:cs typeface="Times New Roman" panose="02020603050405020304" pitchFamily="18" charset="0"/>
              </a:rPr>
              <a:t>Support relationship with Renesas and CDAC established </a:t>
            </a:r>
            <a:r>
              <a:rPr lang="en-US" sz="1100" dirty="0">
                <a:effectLst/>
                <a:latin typeface="Calibri" panose="020F0502020204030204" pitchFamily="34" charset="0"/>
                <a:ea typeface="SimSun" panose="02010600030101010101" pitchFamily="2" charset="-122"/>
                <a:cs typeface="Times New Roman" panose="02020603050405020304" pitchFamily="18" charset="0"/>
              </a:rPr>
              <a:t>  </a:t>
            </a:r>
            <a:endParaRPr lang="en-IN"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23" name="TextBox 22">
            <a:extLst>
              <a:ext uri="{FF2B5EF4-FFF2-40B4-BE49-F238E27FC236}">
                <a16:creationId xmlns:a16="http://schemas.microsoft.com/office/drawing/2014/main" id="{B1BFEFC8-6F38-3D50-5844-264BAFBFF22F}"/>
              </a:ext>
            </a:extLst>
          </p:cNvPr>
          <p:cNvSpPr txBox="1"/>
          <p:nvPr/>
        </p:nvSpPr>
        <p:spPr>
          <a:xfrm>
            <a:off x="5143500" y="881865"/>
            <a:ext cx="4517314" cy="5478231"/>
          </a:xfrm>
          <a:prstGeom prst="rect">
            <a:avLst/>
          </a:prstGeom>
          <a:noFill/>
        </p:spPr>
        <p:txBody>
          <a:bodyPr wrap="square">
            <a:spAutoFit/>
          </a:bodyPr>
          <a:lstStyle/>
          <a:p>
            <a:pPr algn="just">
              <a:lnSpc>
                <a:spcPct val="115000"/>
              </a:lnSpc>
              <a:spcAft>
                <a:spcPts val="1000"/>
              </a:spcAft>
              <a:buNone/>
            </a:pPr>
            <a:r>
              <a:rPr lang="en-US" sz="1400" dirty="0">
                <a:latin typeface="Calibri" panose="020F0502020204030204" pitchFamily="34" charset="0"/>
                <a:ea typeface="SimSun" panose="02010600030101010101" pitchFamily="2" charset="-122"/>
                <a:cs typeface="Times New Roman" panose="02020603050405020304" pitchFamily="18" charset="0"/>
              </a:rPr>
              <a:t>The project envisages enhancements as follows</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15000"/>
              </a:lnSpc>
              <a:spcBef>
                <a:spcPts val="600"/>
              </a:spcBef>
              <a:spcAft>
                <a:spcPts val="1000"/>
              </a:spcAft>
              <a:buFont typeface="+mj-lt"/>
              <a:buAutoNum type="arabicPeriod"/>
            </a:pPr>
            <a:r>
              <a:rPr lang="en-US" sz="1400" dirty="0">
                <a:latin typeface="Calibri" panose="020F0502020204030204" pitchFamily="34" charset="0"/>
                <a:ea typeface="SimSun" panose="02010600030101010101" pitchFamily="2" charset="-122"/>
                <a:cs typeface="Times New Roman" panose="02020603050405020304" pitchFamily="18" charset="0"/>
              </a:rPr>
              <a:t>Create base modules with advanced microprocessors to enable ML and EDGE AI.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15000"/>
              </a:lnSpc>
              <a:spcBef>
                <a:spcPts val="600"/>
              </a:spcBef>
              <a:spcAft>
                <a:spcPts val="1000"/>
              </a:spcAft>
              <a:buFont typeface="+mj-lt"/>
              <a:buAutoNum type="arabicPeriod"/>
            </a:pPr>
            <a:r>
              <a:rPr lang="en-US" sz="1400" dirty="0">
                <a:latin typeface="Calibri" panose="020F0502020204030204" pitchFamily="34" charset="0"/>
                <a:ea typeface="SimSun" panose="02010600030101010101" pitchFamily="2" charset="-122"/>
                <a:cs typeface="Times New Roman" panose="02020603050405020304" pitchFamily="18" charset="0"/>
              </a:rPr>
              <a:t>Create multiple HATS / Shields to experiment with different aspects of prototyping and development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15000"/>
              </a:lnSpc>
              <a:spcBef>
                <a:spcPts val="600"/>
              </a:spcBef>
              <a:spcAft>
                <a:spcPts val="1000"/>
              </a:spcAft>
              <a:buFont typeface="+mj-lt"/>
              <a:buAutoNum type="arabicPeriod"/>
            </a:pPr>
            <a:r>
              <a:rPr lang="en-US" sz="1400" dirty="0">
                <a:latin typeface="Calibri" panose="020F0502020204030204" pitchFamily="34" charset="0"/>
                <a:ea typeface="SimSun" panose="02010600030101010101" pitchFamily="2" charset="-122"/>
                <a:cs typeface="Times New Roman" panose="02020603050405020304" pitchFamily="18" charset="0"/>
              </a:rPr>
              <a:t>Develop IDEs for RUST, </a:t>
            </a:r>
            <a:r>
              <a:rPr lang="en-US" sz="1400" dirty="0" err="1">
                <a:latin typeface="Calibri" panose="020F0502020204030204" pitchFamily="34" charset="0"/>
                <a:ea typeface="SimSun" panose="02010600030101010101" pitchFamily="2" charset="-122"/>
                <a:cs typeface="Times New Roman" panose="02020603050405020304" pitchFamily="18" charset="0"/>
              </a:rPr>
              <a:t>MicroPython</a:t>
            </a:r>
            <a:r>
              <a:rPr lang="en-US" sz="1400" dirty="0">
                <a:latin typeface="Calibri" panose="020F0502020204030204" pitchFamily="34" charset="0"/>
                <a:ea typeface="SimSun" panose="02010600030101010101" pitchFamily="2" charset="-122"/>
                <a:cs typeface="Times New Roman" panose="02020603050405020304" pitchFamily="18" charset="0"/>
              </a:rPr>
              <a:t>, and Zephyr RTOS for developing industrial-grade, ML and EDGE AI apps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15000"/>
              </a:lnSpc>
              <a:spcBef>
                <a:spcPts val="600"/>
              </a:spcBef>
              <a:spcAft>
                <a:spcPts val="1000"/>
              </a:spcAft>
              <a:buFont typeface="+mj-lt"/>
              <a:buAutoNum type="arabicPeriod"/>
            </a:pPr>
            <a:r>
              <a:rPr lang="en-US" sz="1400" dirty="0">
                <a:latin typeface="Calibri" panose="020F0502020204030204" pitchFamily="34" charset="0"/>
                <a:ea typeface="SimSun" panose="02010600030101010101" pitchFamily="2" charset="-122"/>
                <a:cs typeface="Times New Roman" panose="02020603050405020304" pitchFamily="18" charset="0"/>
              </a:rPr>
              <a:t>Develop over 500 applications of various types for students and practitioners to experiment</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15000"/>
              </a:lnSpc>
              <a:spcBef>
                <a:spcPts val="600"/>
              </a:spcBef>
              <a:spcAft>
                <a:spcPts val="1000"/>
              </a:spcAft>
              <a:buFont typeface="+mj-lt"/>
              <a:buAutoNum type="arabicPeriod"/>
            </a:pPr>
            <a:r>
              <a:rPr lang="en-US" sz="1400" dirty="0">
                <a:latin typeface="Calibri" panose="020F0502020204030204" pitchFamily="34" charset="0"/>
                <a:ea typeface="SimSun" panose="02010600030101010101" pitchFamily="2" charset="-122"/>
                <a:cs typeface="Times New Roman" panose="02020603050405020304" pitchFamily="18" charset="0"/>
              </a:rPr>
              <a:t>Develop a significant number of mechanical systems controlled by Advayam modules like a robotic arm, </a:t>
            </a:r>
            <a:r>
              <a:rPr lang="en-US" sz="1400" dirty="0" err="1">
                <a:latin typeface="Calibri" panose="020F0502020204030204" pitchFamily="34" charset="0"/>
                <a:ea typeface="SimSun" panose="02010600030101010101" pitchFamily="2" charset="-122"/>
                <a:cs typeface="Times New Roman" panose="02020603050405020304" pitchFamily="18" charset="0"/>
              </a:rPr>
              <a:t>etc</a:t>
            </a:r>
            <a:r>
              <a:rPr lang="en-US" sz="1400" dirty="0">
                <a:latin typeface="Calibri" panose="020F0502020204030204" pitchFamily="34" charset="0"/>
                <a:ea typeface="SimSun" panose="02010600030101010101" pitchFamily="2" charset="-122"/>
                <a:cs typeface="Times New Roman" panose="02020603050405020304" pitchFamily="18" charset="0"/>
              </a:rPr>
              <a:t>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15000"/>
              </a:lnSpc>
              <a:spcBef>
                <a:spcPts val="600"/>
              </a:spcBef>
              <a:spcAft>
                <a:spcPts val="1000"/>
              </a:spcAft>
              <a:buFont typeface="+mj-lt"/>
              <a:buAutoNum type="arabicPeriod"/>
            </a:pPr>
            <a:r>
              <a:rPr lang="en-US" sz="1400" dirty="0">
                <a:latin typeface="Calibri" panose="020F0502020204030204" pitchFamily="34" charset="0"/>
                <a:ea typeface="SimSun" panose="02010600030101010101" pitchFamily="2" charset="-122"/>
                <a:cs typeface="Times New Roman" panose="02020603050405020304" pitchFamily="18" charset="0"/>
              </a:rPr>
              <a:t>Develop a community of over 1000 developers and spread to multiple universities </a:t>
            </a:r>
            <a:endParaRPr lang="en-IN" sz="14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15000"/>
              </a:lnSpc>
              <a:spcBef>
                <a:spcPts val="600"/>
              </a:spcBef>
              <a:spcAft>
                <a:spcPts val="1000"/>
              </a:spcAft>
              <a:buFont typeface="+mj-lt"/>
              <a:buAutoNum type="arabicPeriod"/>
            </a:pPr>
            <a:r>
              <a:rPr lang="en-US" sz="1400" dirty="0">
                <a:latin typeface="Calibri" panose="020F0502020204030204" pitchFamily="34" charset="0"/>
                <a:ea typeface="SimSun" panose="02010600030101010101" pitchFamily="2" charset="-122"/>
                <a:cs typeface="Times New Roman" panose="02020603050405020304" pitchFamily="18" charset="0"/>
              </a:rPr>
              <a:t>Develop an online course for educating the basic electronic design &amp; development, and usage of Advayam </a:t>
            </a:r>
            <a:endParaRPr lang="en-IN" sz="1400" dirty="0">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94329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6CE22A-6C0B-67FC-B038-AD38C90CDEF8}"/>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7" name="Picture 6" descr="Efforts are being exerted to efface unique identity of Bharat, but why?">
            <a:extLst>
              <a:ext uri="{FF2B5EF4-FFF2-40B4-BE49-F238E27FC236}">
                <a16:creationId xmlns:a16="http://schemas.microsoft.com/office/drawing/2014/main" id="{644F386A-CE30-DBF9-4252-CB687D5314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48563360-5A22-EB14-8CD2-A9051315E4EE}"/>
              </a:ext>
            </a:extLst>
          </p:cNvPr>
          <p:cNvSpPr/>
          <p:nvPr/>
        </p:nvSpPr>
        <p:spPr>
          <a:xfrm>
            <a:off x="2320669" y="-80685"/>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1" name="TextBox 7">
            <a:extLst>
              <a:ext uri="{FF2B5EF4-FFF2-40B4-BE49-F238E27FC236}">
                <a16:creationId xmlns:a16="http://schemas.microsoft.com/office/drawing/2014/main" id="{B98D8316-6031-F970-7F77-95496A635F3D}"/>
              </a:ext>
            </a:extLst>
          </p:cNvPr>
          <p:cNvSpPr txBox="1"/>
          <p:nvPr/>
        </p:nvSpPr>
        <p:spPr>
          <a:xfrm>
            <a:off x="2958353" y="434870"/>
            <a:ext cx="5710518" cy="266098"/>
          </a:xfrm>
          <a:prstGeom prst="rect">
            <a:avLst/>
          </a:prstGeom>
        </p:spPr>
        <p:txBody>
          <a:bodyPr wrap="square" lIns="0" tIns="0" rIns="0" bIns="0" rtlCol="0" anchor="t">
            <a:spAutoFit/>
          </a:bodyPr>
          <a:lstStyle/>
          <a:p>
            <a:pPr algn="ctr">
              <a:lnSpc>
                <a:spcPts val="2239"/>
              </a:lnSpc>
              <a:spcBef>
                <a:spcPct val="0"/>
              </a:spcBef>
            </a:pPr>
            <a:r>
              <a:rPr lang="en-US" sz="1600" dirty="0">
                <a:solidFill>
                  <a:schemeClr val="accent1">
                    <a:lumMod val="75000"/>
                  </a:schemeClr>
                </a:solidFill>
                <a:sym typeface="Times New Roman Bold"/>
              </a:rPr>
              <a:t>Plug-in HATs (Shields) being released under the project </a:t>
            </a:r>
          </a:p>
        </p:txBody>
      </p:sp>
      <p:graphicFrame>
        <p:nvGraphicFramePr>
          <p:cNvPr id="15" name="Table 14">
            <a:extLst>
              <a:ext uri="{FF2B5EF4-FFF2-40B4-BE49-F238E27FC236}">
                <a16:creationId xmlns:a16="http://schemas.microsoft.com/office/drawing/2014/main" id="{779698C7-8C4D-4FD7-EE8F-03A8E569FDEE}"/>
              </a:ext>
            </a:extLst>
          </p:cNvPr>
          <p:cNvGraphicFramePr>
            <a:graphicFrameLocks noGrp="1"/>
          </p:cNvGraphicFramePr>
          <p:nvPr>
            <p:extLst>
              <p:ext uri="{D42A27DB-BD31-4B8C-83A1-F6EECF244321}">
                <p14:modId xmlns:p14="http://schemas.microsoft.com/office/powerpoint/2010/main" val="3529455176"/>
              </p:ext>
            </p:extLst>
          </p:nvPr>
        </p:nvGraphicFramePr>
        <p:xfrm>
          <a:off x="2241494" y="721740"/>
          <a:ext cx="3621424" cy="5389998"/>
        </p:xfrm>
        <a:graphic>
          <a:graphicData uri="http://schemas.openxmlformats.org/drawingml/2006/table">
            <a:tbl>
              <a:tblPr>
                <a:tableStyleId>{22838BEF-8BB2-4498-84A7-C5851F593DF1}</a:tableStyleId>
              </a:tblPr>
              <a:tblGrid>
                <a:gridCol w="111195">
                  <a:extLst>
                    <a:ext uri="{9D8B030D-6E8A-4147-A177-3AD203B41FA5}">
                      <a16:colId xmlns:a16="http://schemas.microsoft.com/office/drawing/2014/main" val="1316811905"/>
                    </a:ext>
                  </a:extLst>
                </a:gridCol>
                <a:gridCol w="1340770">
                  <a:extLst>
                    <a:ext uri="{9D8B030D-6E8A-4147-A177-3AD203B41FA5}">
                      <a16:colId xmlns:a16="http://schemas.microsoft.com/office/drawing/2014/main" val="3636406841"/>
                    </a:ext>
                  </a:extLst>
                </a:gridCol>
                <a:gridCol w="2169459">
                  <a:extLst>
                    <a:ext uri="{9D8B030D-6E8A-4147-A177-3AD203B41FA5}">
                      <a16:colId xmlns:a16="http://schemas.microsoft.com/office/drawing/2014/main" val="1582309857"/>
                    </a:ext>
                  </a:extLst>
                </a:gridCol>
              </a:tblGrid>
              <a:tr h="199515">
                <a:tc>
                  <a:txBody>
                    <a:bodyPr/>
                    <a:lstStyle/>
                    <a:p>
                      <a:pPr algn="ctr" fontAlgn="b">
                        <a:buNone/>
                      </a:pPr>
                      <a:r>
                        <a:rPr lang="en-IN" sz="1100" u="none" strike="noStrike">
                          <a:effectLst/>
                        </a:rPr>
                        <a:t> </a:t>
                      </a:r>
                      <a:endParaRPr lang="en-IN" sz="1100" b="1" i="0" u="none" strike="noStrike">
                        <a:solidFill>
                          <a:srgbClr val="FFFFFF"/>
                        </a:solidFill>
                        <a:effectLst/>
                        <a:latin typeface="Montserrat" panose="00000500000000000000" pitchFamily="2" charset="0"/>
                      </a:endParaRPr>
                    </a:p>
                  </a:txBody>
                  <a:tcPr marL="9501" marR="9501" marT="9501" marB="0" anchor="b">
                    <a:solidFill>
                      <a:schemeClr val="accent1">
                        <a:lumMod val="40000"/>
                        <a:lumOff val="60000"/>
                      </a:schemeClr>
                    </a:solidFill>
                  </a:tcPr>
                </a:tc>
                <a:tc>
                  <a:txBody>
                    <a:bodyPr/>
                    <a:lstStyle/>
                    <a:p>
                      <a:pPr algn="ctr" fontAlgn="b">
                        <a:buNone/>
                      </a:pPr>
                      <a:r>
                        <a:rPr lang="en-IN" sz="1200" b="1" u="none" strike="noStrike" dirty="0">
                          <a:effectLst/>
                        </a:rPr>
                        <a:t>Advayam Shields </a:t>
                      </a:r>
                      <a:endParaRPr lang="en-IN" sz="1200" b="1" i="0" u="none" strike="noStrike" dirty="0">
                        <a:solidFill>
                          <a:srgbClr val="FFFFFF"/>
                        </a:solidFill>
                        <a:effectLst/>
                        <a:latin typeface="Montserrat" panose="00000500000000000000" pitchFamily="2" charset="0"/>
                      </a:endParaRPr>
                    </a:p>
                  </a:txBody>
                  <a:tcPr marL="9501" marR="9501" marT="9501" marB="0" anchor="b">
                    <a:solidFill>
                      <a:schemeClr val="accent1">
                        <a:lumMod val="40000"/>
                        <a:lumOff val="60000"/>
                      </a:schemeClr>
                    </a:solidFill>
                  </a:tcPr>
                </a:tc>
                <a:tc>
                  <a:txBody>
                    <a:bodyPr/>
                    <a:lstStyle/>
                    <a:p>
                      <a:pPr algn="ctr" fontAlgn="b">
                        <a:buNone/>
                      </a:pPr>
                      <a:r>
                        <a:rPr lang="en-IN" sz="1200" b="1" u="none" strike="noStrike" dirty="0">
                          <a:effectLst/>
                        </a:rPr>
                        <a:t>Functionality</a:t>
                      </a:r>
                      <a:endParaRPr lang="en-IN" sz="1200" b="1" i="0" u="none" strike="noStrike" dirty="0">
                        <a:solidFill>
                          <a:srgbClr val="FFFFFF"/>
                        </a:solidFill>
                        <a:effectLst/>
                        <a:latin typeface="Montserrat" panose="00000500000000000000" pitchFamily="2" charset="0"/>
                      </a:endParaRPr>
                    </a:p>
                  </a:txBody>
                  <a:tcPr marL="9501" marR="9501" marT="9501" marB="0" anchor="b">
                    <a:solidFill>
                      <a:schemeClr val="accent1">
                        <a:lumMod val="40000"/>
                        <a:lumOff val="60000"/>
                      </a:schemeClr>
                    </a:solidFill>
                  </a:tcPr>
                </a:tc>
                <a:extLst>
                  <a:ext uri="{0D108BD9-81ED-4DB2-BD59-A6C34878D82A}">
                    <a16:rowId xmlns:a16="http://schemas.microsoft.com/office/drawing/2014/main" val="3639282128"/>
                  </a:ext>
                </a:extLst>
              </a:tr>
              <a:tr h="1377607">
                <a:tc>
                  <a:txBody>
                    <a:bodyPr/>
                    <a:lstStyle/>
                    <a:p>
                      <a:pPr algn="r" fontAlgn="ctr">
                        <a:buNone/>
                      </a:pPr>
                      <a:r>
                        <a:rPr lang="en-IN" sz="1000" u="none" strike="noStrike">
                          <a:effectLst/>
                        </a:rPr>
                        <a:t>1</a:t>
                      </a:r>
                      <a:endParaRPr lang="en-IN" sz="1000" b="0" i="0" u="none" strike="noStrike">
                        <a:solidFill>
                          <a:srgbClr val="000000"/>
                        </a:solidFill>
                        <a:effectLst/>
                        <a:latin typeface="Arial" panose="020B0604020202020204" pitchFamily="34" charset="0"/>
                      </a:endParaRPr>
                    </a:p>
                  </a:txBody>
                  <a:tcPr marL="9501" marR="9501" marT="9501" marB="0" anchor="ctr">
                    <a:noFill/>
                  </a:tcPr>
                </a:tc>
                <a:tc>
                  <a:txBody>
                    <a:bodyPr/>
                    <a:lstStyle/>
                    <a:p>
                      <a:pPr algn="l" fontAlgn="ctr">
                        <a:buNone/>
                      </a:pPr>
                      <a:r>
                        <a:rPr lang="en-IN" sz="1200" u="none" strike="noStrike" dirty="0">
                          <a:effectLst/>
                        </a:rPr>
                        <a:t>Maker &amp; Robotics Shield</a:t>
                      </a:r>
                      <a:endParaRPr lang="en-IN" sz="1200" b="0" i="0" u="none" strike="noStrike" dirty="0">
                        <a:solidFill>
                          <a:srgbClr val="000000"/>
                        </a:solidFill>
                        <a:effectLst/>
                        <a:latin typeface="Arial" panose="020B0604020202020204" pitchFamily="34" charset="0"/>
                      </a:endParaRPr>
                    </a:p>
                  </a:txBody>
                  <a:tcPr marL="9501" marR="9501" marT="9501" marB="0" anchor="ctr">
                    <a:noFill/>
                  </a:tcPr>
                </a:tc>
                <a:tc>
                  <a:txBody>
                    <a:bodyPr/>
                    <a:lstStyle/>
                    <a:p>
                      <a:pPr algn="l" fontAlgn="b">
                        <a:lnSpc>
                          <a:spcPct val="120000"/>
                        </a:lnSpc>
                        <a:buNone/>
                      </a:pPr>
                      <a:r>
                        <a:rPr lang="en-IN" sz="1200" u="none" strike="noStrike" dirty="0">
                          <a:effectLst/>
                        </a:rPr>
                        <a:t>• 4 DC Motor Driver</a:t>
                      </a:r>
                      <a:br>
                        <a:rPr lang="en-IN" sz="1200" u="none" strike="noStrike" dirty="0">
                          <a:effectLst/>
                        </a:rPr>
                      </a:br>
                      <a:r>
                        <a:rPr lang="en-IN" sz="1200" u="none" strike="noStrike" dirty="0">
                          <a:effectLst/>
                        </a:rPr>
                        <a:t>• Servo Headers (4Channels)</a:t>
                      </a:r>
                      <a:br>
                        <a:rPr lang="en-IN" sz="1200" u="none" strike="noStrike" dirty="0">
                          <a:effectLst/>
                        </a:rPr>
                      </a:br>
                      <a:r>
                        <a:rPr lang="en-IN" sz="1200" u="none" strike="noStrike" dirty="0">
                          <a:effectLst/>
                        </a:rPr>
                        <a:t>• Joystick Module</a:t>
                      </a:r>
                      <a:br>
                        <a:rPr lang="en-IN" sz="1200" u="none" strike="noStrike" dirty="0">
                          <a:effectLst/>
                        </a:rPr>
                      </a:br>
                      <a:r>
                        <a:rPr lang="en-IN" sz="1200" u="none" strike="noStrike" dirty="0">
                          <a:effectLst/>
                        </a:rPr>
                        <a:t>• RGB Status LEDs</a:t>
                      </a:r>
                      <a:br>
                        <a:rPr lang="en-IN" sz="1200" u="none" strike="noStrike" dirty="0">
                          <a:effectLst/>
                        </a:rPr>
                      </a:br>
                      <a:r>
                        <a:rPr lang="en-IN" sz="1200" u="none" strike="noStrike" dirty="0">
                          <a:effectLst/>
                        </a:rPr>
                        <a:t>• GPIO Expansion Headers</a:t>
                      </a:r>
                      <a:br>
                        <a:rPr lang="en-IN" sz="1200" u="none" strike="noStrike" dirty="0">
                          <a:effectLst/>
                        </a:rPr>
                      </a:br>
                      <a:r>
                        <a:rPr lang="en-IN" sz="1200" u="none" strike="noStrike" dirty="0">
                          <a:effectLst/>
                        </a:rPr>
                        <a:t>• I²C/SPI/UART Breakout</a:t>
                      </a:r>
                      <a:br>
                        <a:rPr lang="en-IN" sz="1200" u="none" strike="noStrike" dirty="0">
                          <a:effectLst/>
                        </a:rPr>
                      </a:br>
                      <a:r>
                        <a:rPr lang="en-IN" sz="1200" u="none" strike="noStrike" dirty="0">
                          <a:effectLst/>
                        </a:rPr>
                        <a:t>• 6 Digital input pins </a:t>
                      </a:r>
                      <a:br>
                        <a:rPr lang="en-IN" sz="1200" u="none" strike="noStrike" dirty="0">
                          <a:effectLst/>
                        </a:rPr>
                      </a:br>
                      <a:r>
                        <a:rPr lang="en-IN" sz="1200" u="none" strike="noStrike" dirty="0">
                          <a:effectLst/>
                        </a:rPr>
                        <a:t>• Potentiometer</a:t>
                      </a:r>
                      <a:br>
                        <a:rPr lang="en-IN" sz="1200" u="none" strike="noStrike" dirty="0">
                          <a:effectLst/>
                        </a:rPr>
                      </a:br>
                      <a:r>
                        <a:rPr lang="en-IN" sz="1200" u="none" strike="noStrike" dirty="0">
                          <a:effectLst/>
                        </a:rPr>
                        <a:t>• Encoder Input</a:t>
                      </a:r>
                      <a:endParaRPr lang="en-IN" sz="1200" b="0" i="0" u="none" strike="noStrike" dirty="0">
                        <a:solidFill>
                          <a:srgbClr val="000000"/>
                        </a:solidFill>
                        <a:effectLst/>
                        <a:latin typeface="Arial" panose="020B0604020202020204" pitchFamily="34" charset="0"/>
                      </a:endParaRPr>
                    </a:p>
                  </a:txBody>
                  <a:tcPr marL="9501" marR="9501" marT="9501" marB="0" anchor="b">
                    <a:noFill/>
                  </a:tcPr>
                </a:tc>
                <a:extLst>
                  <a:ext uri="{0D108BD9-81ED-4DB2-BD59-A6C34878D82A}">
                    <a16:rowId xmlns:a16="http://schemas.microsoft.com/office/drawing/2014/main" val="1208079039"/>
                  </a:ext>
                </a:extLst>
              </a:tr>
              <a:tr h="1225595">
                <a:tc>
                  <a:txBody>
                    <a:bodyPr/>
                    <a:lstStyle/>
                    <a:p>
                      <a:pPr algn="r" fontAlgn="ctr">
                        <a:buNone/>
                      </a:pPr>
                      <a:r>
                        <a:rPr lang="en-IN" sz="1000" u="none" strike="noStrike">
                          <a:effectLst/>
                        </a:rPr>
                        <a:t>2</a:t>
                      </a:r>
                      <a:endParaRPr lang="en-IN" sz="1000" b="0" i="0" u="none" strike="noStrike">
                        <a:solidFill>
                          <a:srgbClr val="000000"/>
                        </a:solidFill>
                        <a:effectLst/>
                        <a:latin typeface="Arial" panose="020B0604020202020204" pitchFamily="34" charset="0"/>
                      </a:endParaRPr>
                    </a:p>
                  </a:txBody>
                  <a:tcPr marL="9501" marR="9501" marT="9501" marB="0" anchor="ctr">
                    <a:noFill/>
                  </a:tcPr>
                </a:tc>
                <a:tc>
                  <a:txBody>
                    <a:bodyPr/>
                    <a:lstStyle/>
                    <a:p>
                      <a:pPr algn="l" fontAlgn="ctr">
                        <a:buNone/>
                      </a:pPr>
                      <a:r>
                        <a:rPr lang="en-IN" sz="1200" u="none" strike="noStrike">
                          <a:effectLst/>
                        </a:rPr>
                        <a:t>Human Interface Shield</a:t>
                      </a:r>
                      <a:endParaRPr lang="en-IN" sz="1200" b="0" i="0" u="none" strike="noStrike">
                        <a:solidFill>
                          <a:srgbClr val="000000"/>
                        </a:solidFill>
                        <a:effectLst/>
                        <a:latin typeface="Arial" panose="020B0604020202020204" pitchFamily="34" charset="0"/>
                      </a:endParaRPr>
                    </a:p>
                  </a:txBody>
                  <a:tcPr marL="9501" marR="9501" marT="9501" marB="0" anchor="ctr">
                    <a:noFill/>
                  </a:tcPr>
                </a:tc>
                <a:tc>
                  <a:txBody>
                    <a:bodyPr/>
                    <a:lstStyle/>
                    <a:p>
                      <a:pPr algn="l" fontAlgn="b">
                        <a:lnSpc>
                          <a:spcPct val="120000"/>
                        </a:lnSpc>
                        <a:buNone/>
                      </a:pPr>
                      <a:r>
                        <a:rPr lang="en-IN" sz="1200" u="none" strike="noStrike" dirty="0">
                          <a:effectLst/>
                        </a:rPr>
                        <a:t>• TFT Display Interface</a:t>
                      </a:r>
                      <a:br>
                        <a:rPr lang="en-IN" sz="1200" u="none" strike="noStrike" dirty="0">
                          <a:effectLst/>
                        </a:rPr>
                      </a:br>
                      <a:r>
                        <a:rPr lang="en-IN" sz="1200" u="none" strike="noStrike" dirty="0">
                          <a:effectLst/>
                        </a:rPr>
                        <a:t>• Capacitive Touch pads</a:t>
                      </a:r>
                      <a:br>
                        <a:rPr lang="en-IN" sz="1200" u="none" strike="noStrike" dirty="0">
                          <a:effectLst/>
                        </a:rPr>
                      </a:br>
                      <a:r>
                        <a:rPr lang="en-IN" sz="1200" u="none" strike="noStrike" dirty="0">
                          <a:effectLst/>
                        </a:rPr>
                        <a:t>• 4×4 Matrix Keypad</a:t>
                      </a:r>
                      <a:br>
                        <a:rPr lang="en-IN" sz="1200" u="none" strike="noStrike" dirty="0">
                          <a:effectLst/>
                        </a:rPr>
                      </a:br>
                      <a:r>
                        <a:rPr lang="en-IN" sz="1200" u="none" strike="noStrike" dirty="0">
                          <a:effectLst/>
                        </a:rPr>
                        <a:t>• RGB Status LED</a:t>
                      </a:r>
                      <a:br>
                        <a:rPr lang="en-IN" sz="1200" u="none" strike="noStrike" dirty="0">
                          <a:effectLst/>
                        </a:rPr>
                      </a:br>
                      <a:r>
                        <a:rPr lang="en-IN" sz="1200" u="none" strike="noStrike" dirty="0">
                          <a:effectLst/>
                        </a:rPr>
                        <a:t>• Navigation Joystick</a:t>
                      </a:r>
                      <a:br>
                        <a:rPr lang="en-IN" sz="1200" u="none" strike="noStrike" dirty="0">
                          <a:effectLst/>
                        </a:rPr>
                      </a:br>
                      <a:r>
                        <a:rPr lang="en-IN" sz="1200" u="none" strike="noStrike" dirty="0">
                          <a:effectLst/>
                        </a:rPr>
                        <a:t>• Keypad Interface</a:t>
                      </a:r>
                      <a:br>
                        <a:rPr lang="en-IN" sz="1200" u="none" strike="noStrike" dirty="0">
                          <a:effectLst/>
                        </a:rPr>
                      </a:br>
                      <a:r>
                        <a:rPr lang="en-IN" sz="1200" u="none" strike="noStrike" dirty="0">
                          <a:effectLst/>
                        </a:rPr>
                        <a:t>• microSD Card Slot</a:t>
                      </a:r>
                      <a:br>
                        <a:rPr lang="en-IN" sz="1200" u="none" strike="noStrike" dirty="0">
                          <a:effectLst/>
                        </a:rPr>
                      </a:br>
                      <a:r>
                        <a:rPr lang="en-IN" sz="1200" u="none" strike="noStrike" dirty="0">
                          <a:effectLst/>
                        </a:rPr>
                        <a:t>• Audio/Buzzer Output</a:t>
                      </a:r>
                      <a:endParaRPr lang="en-IN" sz="1200" b="0" i="0" u="none" strike="noStrike" dirty="0">
                        <a:solidFill>
                          <a:srgbClr val="000000"/>
                        </a:solidFill>
                        <a:effectLst/>
                        <a:latin typeface="Arial" panose="020B0604020202020204" pitchFamily="34" charset="0"/>
                      </a:endParaRPr>
                    </a:p>
                  </a:txBody>
                  <a:tcPr marL="9501" marR="9501" marT="9501" marB="0" anchor="b">
                    <a:noFill/>
                  </a:tcPr>
                </a:tc>
                <a:extLst>
                  <a:ext uri="{0D108BD9-81ED-4DB2-BD59-A6C34878D82A}">
                    <a16:rowId xmlns:a16="http://schemas.microsoft.com/office/drawing/2014/main" val="1415974412"/>
                  </a:ext>
                </a:extLst>
              </a:tr>
              <a:tr h="1225595">
                <a:tc>
                  <a:txBody>
                    <a:bodyPr/>
                    <a:lstStyle/>
                    <a:p>
                      <a:pPr algn="r" fontAlgn="ctr">
                        <a:buNone/>
                      </a:pPr>
                      <a:r>
                        <a:rPr lang="en-IN" sz="1000" u="none" strike="noStrike">
                          <a:effectLst/>
                        </a:rPr>
                        <a:t>3</a:t>
                      </a:r>
                      <a:endParaRPr lang="en-IN" sz="1000" b="0" i="0" u="none" strike="noStrike">
                        <a:solidFill>
                          <a:srgbClr val="000000"/>
                        </a:solidFill>
                        <a:effectLst/>
                        <a:latin typeface="Arial" panose="020B0604020202020204" pitchFamily="34" charset="0"/>
                      </a:endParaRPr>
                    </a:p>
                  </a:txBody>
                  <a:tcPr marL="9501" marR="9501" marT="9501" marB="0" anchor="ctr">
                    <a:noFill/>
                  </a:tcPr>
                </a:tc>
                <a:tc>
                  <a:txBody>
                    <a:bodyPr/>
                    <a:lstStyle/>
                    <a:p>
                      <a:pPr algn="l" fontAlgn="ctr">
                        <a:buNone/>
                      </a:pPr>
                      <a:r>
                        <a:rPr lang="en-IN" sz="1200" u="none" strike="noStrike" dirty="0">
                          <a:effectLst/>
                        </a:rPr>
                        <a:t>Connectivity &amp; IoT Shield</a:t>
                      </a:r>
                      <a:endParaRPr lang="en-IN" sz="1200" b="0" i="0" u="none" strike="noStrike" dirty="0">
                        <a:solidFill>
                          <a:srgbClr val="000000"/>
                        </a:solidFill>
                        <a:effectLst/>
                        <a:latin typeface="Arial" panose="020B0604020202020204" pitchFamily="34" charset="0"/>
                      </a:endParaRPr>
                    </a:p>
                  </a:txBody>
                  <a:tcPr marL="9501" marR="9501" marT="9501" marB="0" anchor="ctr">
                    <a:noFill/>
                  </a:tcPr>
                </a:tc>
                <a:tc>
                  <a:txBody>
                    <a:bodyPr/>
                    <a:lstStyle/>
                    <a:p>
                      <a:pPr algn="l" fontAlgn="b">
                        <a:lnSpc>
                          <a:spcPct val="120000"/>
                        </a:lnSpc>
                        <a:buNone/>
                      </a:pPr>
                      <a:r>
                        <a:rPr lang="en-IN" sz="1200" u="none" strike="noStrike" dirty="0">
                          <a:effectLst/>
                        </a:rPr>
                        <a:t>• 2 W5500 Ethernet </a:t>
                      </a:r>
                      <a:br>
                        <a:rPr lang="en-IN" sz="1200" u="none" strike="noStrike" dirty="0">
                          <a:effectLst/>
                        </a:rPr>
                      </a:br>
                      <a:r>
                        <a:rPr lang="en-IN" sz="1200" u="none" strike="noStrike" dirty="0">
                          <a:effectLst/>
                        </a:rPr>
                        <a:t>• CAN Bus</a:t>
                      </a:r>
                      <a:br>
                        <a:rPr lang="en-IN" sz="1200" u="none" strike="noStrike" dirty="0">
                          <a:effectLst/>
                        </a:rPr>
                      </a:br>
                      <a:r>
                        <a:rPr lang="en-IN" sz="1200" u="none" strike="noStrike" dirty="0">
                          <a:effectLst/>
                        </a:rPr>
                        <a:t>• 4 RS485 Interface</a:t>
                      </a:r>
                      <a:br>
                        <a:rPr lang="en-IN" sz="1200" u="none" strike="noStrike" dirty="0">
                          <a:effectLst/>
                        </a:rPr>
                      </a:br>
                      <a:r>
                        <a:rPr lang="en-IN" sz="1200" u="none" strike="noStrike" dirty="0">
                          <a:effectLst/>
                        </a:rPr>
                        <a:t>• Zigbee/</a:t>
                      </a:r>
                      <a:r>
                        <a:rPr lang="en-IN" sz="1200" u="none" strike="noStrike" dirty="0" err="1">
                          <a:effectLst/>
                        </a:rPr>
                        <a:t>XBee</a:t>
                      </a:r>
                      <a:r>
                        <a:rPr lang="en-IN" sz="1200" u="none" strike="noStrike" dirty="0">
                          <a:effectLst/>
                        </a:rPr>
                        <a:t> </a:t>
                      </a:r>
                      <a:br>
                        <a:rPr lang="en-IN" sz="1200" u="none" strike="noStrike" dirty="0">
                          <a:effectLst/>
                        </a:rPr>
                      </a:br>
                      <a:r>
                        <a:rPr lang="en-IN" sz="1200" u="none" strike="noStrike" dirty="0">
                          <a:effectLst/>
                        </a:rPr>
                        <a:t>• GPS Interface</a:t>
                      </a:r>
                      <a:br>
                        <a:rPr lang="en-IN" sz="1200" u="none" strike="noStrike" dirty="0">
                          <a:effectLst/>
                        </a:rPr>
                      </a:br>
                      <a:r>
                        <a:rPr lang="en-IN" sz="1200" u="none" strike="noStrike" dirty="0">
                          <a:effectLst/>
                        </a:rPr>
                        <a:t>• GSM Module</a:t>
                      </a:r>
                      <a:br>
                        <a:rPr lang="en-IN" sz="1200" u="none" strike="noStrike" dirty="0">
                          <a:effectLst/>
                        </a:rPr>
                      </a:br>
                      <a:r>
                        <a:rPr lang="en-IN" sz="1200" u="none" strike="noStrike" dirty="0">
                          <a:effectLst/>
                        </a:rPr>
                        <a:t>• NFC/RFID Support</a:t>
                      </a:r>
                      <a:endParaRPr lang="en-IN" sz="1200" b="0" i="0" u="none" strike="noStrike" dirty="0">
                        <a:solidFill>
                          <a:srgbClr val="000000"/>
                        </a:solidFill>
                        <a:effectLst/>
                        <a:latin typeface="Arial" panose="020B0604020202020204" pitchFamily="34" charset="0"/>
                      </a:endParaRPr>
                    </a:p>
                  </a:txBody>
                  <a:tcPr marL="9501" marR="9501" marT="9501" marB="0" anchor="b">
                    <a:noFill/>
                  </a:tcPr>
                </a:tc>
                <a:extLst>
                  <a:ext uri="{0D108BD9-81ED-4DB2-BD59-A6C34878D82A}">
                    <a16:rowId xmlns:a16="http://schemas.microsoft.com/office/drawing/2014/main" val="1983226380"/>
                  </a:ext>
                </a:extLst>
              </a:tr>
            </a:tbl>
          </a:graphicData>
        </a:graphic>
      </p:graphicFrame>
      <p:graphicFrame>
        <p:nvGraphicFramePr>
          <p:cNvPr id="17" name="Table 16">
            <a:extLst>
              <a:ext uri="{FF2B5EF4-FFF2-40B4-BE49-F238E27FC236}">
                <a16:creationId xmlns:a16="http://schemas.microsoft.com/office/drawing/2014/main" id="{C71DFB9E-B1C5-CC7E-5D0B-5031D9AD90C2}"/>
              </a:ext>
            </a:extLst>
          </p:cNvPr>
          <p:cNvGraphicFramePr>
            <a:graphicFrameLocks noGrp="1"/>
          </p:cNvGraphicFramePr>
          <p:nvPr>
            <p:extLst>
              <p:ext uri="{D42A27DB-BD31-4B8C-83A1-F6EECF244321}">
                <p14:modId xmlns:p14="http://schemas.microsoft.com/office/powerpoint/2010/main" val="3899584816"/>
              </p:ext>
            </p:extLst>
          </p:nvPr>
        </p:nvGraphicFramePr>
        <p:xfrm>
          <a:off x="5899561" y="721740"/>
          <a:ext cx="3933815" cy="6038748"/>
        </p:xfrm>
        <a:graphic>
          <a:graphicData uri="http://schemas.openxmlformats.org/drawingml/2006/table">
            <a:tbl>
              <a:tblPr>
                <a:tableStyleId>{22838BEF-8BB2-4498-84A7-C5851F593DF1}</a:tableStyleId>
              </a:tblPr>
              <a:tblGrid>
                <a:gridCol w="127929">
                  <a:extLst>
                    <a:ext uri="{9D8B030D-6E8A-4147-A177-3AD203B41FA5}">
                      <a16:colId xmlns:a16="http://schemas.microsoft.com/office/drawing/2014/main" val="4118552655"/>
                    </a:ext>
                  </a:extLst>
                </a:gridCol>
                <a:gridCol w="1413216">
                  <a:extLst>
                    <a:ext uri="{9D8B030D-6E8A-4147-A177-3AD203B41FA5}">
                      <a16:colId xmlns:a16="http://schemas.microsoft.com/office/drawing/2014/main" val="2939968827"/>
                    </a:ext>
                  </a:extLst>
                </a:gridCol>
                <a:gridCol w="2392670">
                  <a:extLst>
                    <a:ext uri="{9D8B030D-6E8A-4147-A177-3AD203B41FA5}">
                      <a16:colId xmlns:a16="http://schemas.microsoft.com/office/drawing/2014/main" val="1271101120"/>
                    </a:ext>
                  </a:extLst>
                </a:gridCol>
              </a:tblGrid>
              <a:tr h="186486">
                <a:tc>
                  <a:txBody>
                    <a:bodyPr/>
                    <a:lstStyle/>
                    <a:p>
                      <a:pPr algn="ctr" fontAlgn="b">
                        <a:buNone/>
                      </a:pPr>
                      <a:r>
                        <a:rPr lang="en-IN" sz="1200" u="none" strike="noStrike">
                          <a:effectLst/>
                        </a:rPr>
                        <a:t> </a:t>
                      </a:r>
                      <a:endParaRPr lang="en-IN" sz="1200" b="1" i="0" u="none" strike="noStrike">
                        <a:solidFill>
                          <a:srgbClr val="FFFFFF"/>
                        </a:solidFill>
                        <a:effectLst/>
                        <a:latin typeface="Montserrat" panose="00000500000000000000" pitchFamily="2" charset="0"/>
                      </a:endParaRPr>
                    </a:p>
                  </a:txBody>
                  <a:tcPr marL="8880" marR="8880" marT="8880" marB="0" anchor="b">
                    <a:solidFill>
                      <a:schemeClr val="accent1">
                        <a:lumMod val="40000"/>
                        <a:lumOff val="60000"/>
                      </a:schemeClr>
                    </a:solidFill>
                  </a:tcPr>
                </a:tc>
                <a:tc>
                  <a:txBody>
                    <a:bodyPr/>
                    <a:lstStyle/>
                    <a:p>
                      <a:pPr algn="ctr" fontAlgn="b">
                        <a:buNone/>
                      </a:pPr>
                      <a:r>
                        <a:rPr lang="en-IN" sz="1200" b="1" u="none" strike="noStrike" dirty="0">
                          <a:effectLst/>
                        </a:rPr>
                        <a:t>Advayam</a:t>
                      </a:r>
                      <a:r>
                        <a:rPr lang="en-IN" sz="1200" u="none" strike="noStrike" dirty="0">
                          <a:effectLst/>
                        </a:rPr>
                        <a:t> </a:t>
                      </a:r>
                      <a:r>
                        <a:rPr lang="en-IN" sz="1200" b="1" u="none" strike="noStrike" kern="1200" dirty="0">
                          <a:solidFill>
                            <a:schemeClr val="dk1"/>
                          </a:solidFill>
                          <a:effectLst/>
                        </a:rPr>
                        <a:t>Shields</a:t>
                      </a:r>
                      <a:endParaRPr lang="en-IN" sz="1200" b="1" u="none" strike="noStrike" kern="1200" dirty="0">
                        <a:solidFill>
                          <a:schemeClr val="dk1"/>
                        </a:solidFill>
                        <a:effectLst/>
                        <a:latin typeface="+mn-lt"/>
                        <a:ea typeface="+mn-ea"/>
                        <a:cs typeface="+mn-cs"/>
                      </a:endParaRPr>
                    </a:p>
                  </a:txBody>
                  <a:tcPr marL="8880" marR="8880" marT="8880" marB="0" anchor="b">
                    <a:solidFill>
                      <a:schemeClr val="accent1">
                        <a:lumMod val="40000"/>
                        <a:lumOff val="60000"/>
                      </a:schemeClr>
                    </a:solidFill>
                  </a:tcPr>
                </a:tc>
                <a:tc>
                  <a:txBody>
                    <a:bodyPr/>
                    <a:lstStyle/>
                    <a:p>
                      <a:pPr algn="ctr" fontAlgn="b">
                        <a:buNone/>
                      </a:pPr>
                      <a:r>
                        <a:rPr lang="en-IN" sz="1200" b="1" u="none" strike="noStrike" dirty="0">
                          <a:effectLst/>
                        </a:rPr>
                        <a:t>Functionality</a:t>
                      </a:r>
                      <a:endParaRPr lang="en-IN" sz="1200" b="1" i="0" u="none" strike="noStrike" dirty="0">
                        <a:solidFill>
                          <a:srgbClr val="FFFFFF"/>
                        </a:solidFill>
                        <a:effectLst/>
                        <a:latin typeface="Montserrat" panose="00000500000000000000" pitchFamily="2" charset="0"/>
                      </a:endParaRPr>
                    </a:p>
                  </a:txBody>
                  <a:tcPr marL="8880" marR="8880" marT="8880" marB="0" anchor="b">
                    <a:solidFill>
                      <a:schemeClr val="accent1">
                        <a:lumMod val="40000"/>
                        <a:lumOff val="60000"/>
                      </a:schemeClr>
                    </a:solidFill>
                  </a:tcPr>
                </a:tc>
                <a:extLst>
                  <a:ext uri="{0D108BD9-81ED-4DB2-BD59-A6C34878D82A}">
                    <a16:rowId xmlns:a16="http://schemas.microsoft.com/office/drawing/2014/main" val="4279278404"/>
                  </a:ext>
                </a:extLst>
              </a:tr>
              <a:tr h="1145556">
                <a:tc>
                  <a:txBody>
                    <a:bodyPr/>
                    <a:lstStyle/>
                    <a:p>
                      <a:pPr algn="ctr" fontAlgn="ctr">
                        <a:buNone/>
                      </a:pPr>
                      <a:r>
                        <a:rPr lang="en-IN" sz="1200" u="none" strike="noStrike">
                          <a:effectLst/>
                        </a:rPr>
                        <a:t>4</a:t>
                      </a:r>
                      <a:endParaRPr lang="en-IN" sz="1200" b="0" i="0" u="none" strike="noStrike">
                        <a:solidFill>
                          <a:srgbClr val="000000"/>
                        </a:solidFill>
                        <a:effectLst/>
                        <a:latin typeface="Arial" panose="020B0604020202020204" pitchFamily="34" charset="0"/>
                      </a:endParaRPr>
                    </a:p>
                  </a:txBody>
                  <a:tcPr marL="8880" marR="8880" marT="8880" marB="0" anchor="ctr">
                    <a:noFill/>
                  </a:tcPr>
                </a:tc>
                <a:tc>
                  <a:txBody>
                    <a:bodyPr/>
                    <a:lstStyle/>
                    <a:p>
                      <a:pPr algn="ctr" fontAlgn="ctr">
                        <a:buNone/>
                      </a:pPr>
                      <a:r>
                        <a:rPr lang="en-IN" sz="1200" u="none" strike="noStrike" dirty="0">
                          <a:effectLst/>
                        </a:rPr>
                        <a:t>Vision &amp; AI Shield</a:t>
                      </a:r>
                      <a:endParaRPr lang="en-IN" sz="1200" b="0" i="0" u="none" strike="noStrike" dirty="0">
                        <a:solidFill>
                          <a:srgbClr val="000000"/>
                        </a:solidFill>
                        <a:effectLst/>
                        <a:latin typeface="Arial" panose="020B0604020202020204" pitchFamily="34" charset="0"/>
                      </a:endParaRPr>
                    </a:p>
                  </a:txBody>
                  <a:tcPr marL="8880" marR="8880" marT="8880" marB="0" anchor="ctr">
                    <a:noFill/>
                  </a:tcPr>
                </a:tc>
                <a:tc>
                  <a:txBody>
                    <a:bodyPr/>
                    <a:lstStyle/>
                    <a:p>
                      <a:pPr algn="l" fontAlgn="b">
                        <a:lnSpc>
                          <a:spcPct val="120000"/>
                        </a:lnSpc>
                        <a:buNone/>
                      </a:pPr>
                      <a:r>
                        <a:rPr lang="en-IN" sz="1200" u="none" strike="noStrike" dirty="0">
                          <a:effectLst/>
                        </a:rPr>
                        <a:t>• Camera Connector</a:t>
                      </a:r>
                      <a:br>
                        <a:rPr lang="en-IN" sz="1200" u="none" strike="noStrike" dirty="0">
                          <a:effectLst/>
                        </a:rPr>
                      </a:br>
                      <a:r>
                        <a:rPr lang="en-IN" sz="1200" u="none" strike="noStrike" dirty="0">
                          <a:effectLst/>
                        </a:rPr>
                        <a:t>• Digital MEMS Microphone</a:t>
                      </a:r>
                      <a:br>
                        <a:rPr lang="en-IN" sz="1200" u="none" strike="noStrike" dirty="0">
                          <a:effectLst/>
                        </a:rPr>
                      </a:br>
                      <a:r>
                        <a:rPr lang="en-IN" sz="1200" u="none" strike="noStrike" dirty="0">
                          <a:effectLst/>
                        </a:rPr>
                        <a:t>• Speaker Output</a:t>
                      </a:r>
                      <a:br>
                        <a:rPr lang="en-IN" sz="1200" u="none" strike="noStrike" dirty="0">
                          <a:effectLst/>
                        </a:rPr>
                      </a:br>
                      <a:r>
                        <a:rPr lang="en-IN" sz="1200" u="none" strike="noStrike" dirty="0">
                          <a:effectLst/>
                        </a:rPr>
                        <a:t>• Audio Amplifier</a:t>
                      </a:r>
                      <a:br>
                        <a:rPr lang="en-IN" sz="1200" u="none" strike="noStrike" dirty="0">
                          <a:effectLst/>
                        </a:rPr>
                      </a:br>
                      <a:r>
                        <a:rPr lang="en-IN" sz="1200" u="none" strike="noStrike" dirty="0">
                          <a:effectLst/>
                        </a:rPr>
                        <a:t>• IMU Sensor</a:t>
                      </a:r>
                      <a:br>
                        <a:rPr lang="en-IN" sz="1200" u="none" strike="noStrike" dirty="0">
                          <a:effectLst/>
                        </a:rPr>
                      </a:br>
                      <a:r>
                        <a:rPr lang="en-IN" sz="1200" u="none" strike="noStrike" dirty="0">
                          <a:effectLst/>
                        </a:rPr>
                        <a:t>• Gesture Sensor</a:t>
                      </a:r>
                      <a:br>
                        <a:rPr lang="en-IN" sz="1200" u="none" strike="noStrike" dirty="0">
                          <a:effectLst/>
                        </a:rPr>
                      </a:br>
                      <a:r>
                        <a:rPr lang="en-IN" sz="1200" u="none" strike="noStrike" dirty="0">
                          <a:effectLst/>
                        </a:rPr>
                        <a:t>• microSD</a:t>
                      </a:r>
                      <a:br>
                        <a:rPr lang="en-IN" sz="1200" u="none" strike="noStrike" dirty="0">
                          <a:effectLst/>
                        </a:rPr>
                      </a:br>
                      <a:r>
                        <a:rPr lang="en-IN" sz="1200" u="none" strike="noStrike" dirty="0">
                          <a:effectLst/>
                        </a:rPr>
                        <a:t>• Status Buttons</a:t>
                      </a:r>
                      <a:endParaRPr lang="en-IN" sz="1200" b="0" i="0" u="none" strike="noStrike" dirty="0">
                        <a:solidFill>
                          <a:srgbClr val="000000"/>
                        </a:solidFill>
                        <a:effectLst/>
                        <a:latin typeface="Arial" panose="020B0604020202020204" pitchFamily="34" charset="0"/>
                      </a:endParaRPr>
                    </a:p>
                  </a:txBody>
                  <a:tcPr marL="8880" marR="8880" marT="8880" marB="0" anchor="b">
                    <a:noFill/>
                  </a:tcPr>
                </a:tc>
                <a:extLst>
                  <a:ext uri="{0D108BD9-81ED-4DB2-BD59-A6C34878D82A}">
                    <a16:rowId xmlns:a16="http://schemas.microsoft.com/office/drawing/2014/main" val="2720166587"/>
                  </a:ext>
                </a:extLst>
              </a:tr>
              <a:tr h="1287641">
                <a:tc>
                  <a:txBody>
                    <a:bodyPr/>
                    <a:lstStyle/>
                    <a:p>
                      <a:pPr algn="r" fontAlgn="ctr">
                        <a:buNone/>
                      </a:pPr>
                      <a:r>
                        <a:rPr lang="en-IN" sz="1200" u="none" strike="noStrike">
                          <a:effectLst/>
                        </a:rPr>
                        <a:t>5</a:t>
                      </a:r>
                      <a:endParaRPr lang="en-IN" sz="1200" b="0" i="0" u="none" strike="noStrike">
                        <a:solidFill>
                          <a:srgbClr val="000000"/>
                        </a:solidFill>
                        <a:effectLst/>
                        <a:latin typeface="Arial" panose="020B0604020202020204" pitchFamily="34" charset="0"/>
                      </a:endParaRPr>
                    </a:p>
                  </a:txBody>
                  <a:tcPr marL="8880" marR="8880" marT="8880" marB="0" anchor="ctr">
                    <a:noFill/>
                  </a:tcPr>
                </a:tc>
                <a:tc>
                  <a:txBody>
                    <a:bodyPr/>
                    <a:lstStyle/>
                    <a:p>
                      <a:pPr algn="l" fontAlgn="ctr">
                        <a:buNone/>
                      </a:pPr>
                      <a:r>
                        <a:rPr lang="en-IN" sz="1200" u="none" strike="noStrike">
                          <a:effectLst/>
                        </a:rPr>
                        <a:t>Industrial &amp; Automation Shield</a:t>
                      </a:r>
                      <a:endParaRPr lang="en-IN" sz="1200" b="0" i="0" u="none" strike="noStrike">
                        <a:solidFill>
                          <a:srgbClr val="000000"/>
                        </a:solidFill>
                        <a:effectLst/>
                        <a:latin typeface="Arial" panose="020B0604020202020204" pitchFamily="34" charset="0"/>
                      </a:endParaRPr>
                    </a:p>
                  </a:txBody>
                  <a:tcPr marL="8880" marR="8880" marT="8880" marB="0" anchor="ctr">
                    <a:noFill/>
                  </a:tcPr>
                </a:tc>
                <a:tc>
                  <a:txBody>
                    <a:bodyPr/>
                    <a:lstStyle/>
                    <a:p>
                      <a:pPr algn="l" fontAlgn="b">
                        <a:lnSpc>
                          <a:spcPct val="120000"/>
                        </a:lnSpc>
                        <a:buNone/>
                      </a:pPr>
                      <a:r>
                        <a:rPr lang="en-IN" sz="1200" u="none" strike="noStrike" dirty="0">
                          <a:effectLst/>
                        </a:rPr>
                        <a:t>• 4Relay Outputs</a:t>
                      </a:r>
                      <a:br>
                        <a:rPr lang="en-IN" sz="1200" u="none" strike="noStrike" dirty="0">
                          <a:effectLst/>
                        </a:rPr>
                      </a:br>
                      <a:r>
                        <a:rPr lang="en-IN" sz="1200" u="none" strike="noStrike" dirty="0">
                          <a:effectLst/>
                        </a:rPr>
                        <a:t>• Opto-Isolated Inputs</a:t>
                      </a:r>
                      <a:br>
                        <a:rPr lang="en-IN" sz="1200" u="none" strike="noStrike" dirty="0">
                          <a:effectLst/>
                        </a:rPr>
                      </a:br>
                      <a:r>
                        <a:rPr lang="en-IN" sz="1200" u="none" strike="noStrike" dirty="0">
                          <a:effectLst/>
                        </a:rPr>
                        <a:t>• Analog Input Channels</a:t>
                      </a:r>
                      <a:br>
                        <a:rPr lang="en-IN" sz="1200" u="none" strike="noStrike" dirty="0">
                          <a:effectLst/>
                        </a:rPr>
                      </a:br>
                      <a:r>
                        <a:rPr lang="en-IN" sz="1200" u="none" strike="noStrike" dirty="0">
                          <a:effectLst/>
                        </a:rPr>
                        <a:t>• Digital I/O Expansion</a:t>
                      </a:r>
                      <a:br>
                        <a:rPr lang="en-IN" sz="1200" u="none" strike="noStrike" dirty="0">
                          <a:effectLst/>
                        </a:rPr>
                      </a:br>
                      <a:r>
                        <a:rPr lang="en-IN" sz="1200" u="none" strike="noStrike" dirty="0">
                          <a:effectLst/>
                        </a:rPr>
                        <a:t>• Industrial Sensors Interface</a:t>
                      </a:r>
                      <a:br>
                        <a:rPr lang="en-IN" sz="1200" u="none" strike="noStrike" dirty="0">
                          <a:effectLst/>
                        </a:rPr>
                      </a:br>
                      <a:r>
                        <a:rPr lang="en-IN" sz="1200" u="none" strike="noStrike" dirty="0">
                          <a:effectLst/>
                        </a:rPr>
                        <a:t>• Current &amp; Voltage Monitoring</a:t>
                      </a:r>
                      <a:br>
                        <a:rPr lang="en-IN" sz="1200" u="none" strike="noStrike" dirty="0">
                          <a:effectLst/>
                        </a:rPr>
                      </a:br>
                      <a:r>
                        <a:rPr lang="en-IN" sz="1200" u="none" strike="noStrike" dirty="0">
                          <a:effectLst/>
                        </a:rPr>
                        <a:t>• CAN/RS485 Communication</a:t>
                      </a:r>
                      <a:br>
                        <a:rPr lang="en-IN" sz="1200" u="none" strike="noStrike" dirty="0">
                          <a:effectLst/>
                        </a:rPr>
                      </a:br>
                      <a:r>
                        <a:rPr lang="en-IN" sz="1200" u="none" strike="noStrike" dirty="0">
                          <a:effectLst/>
                        </a:rPr>
                        <a:t>• Protected Power Interface</a:t>
                      </a:r>
                      <a:br>
                        <a:rPr lang="en-IN" sz="1200" u="none" strike="noStrike" dirty="0">
                          <a:effectLst/>
                        </a:rPr>
                      </a:br>
                      <a:r>
                        <a:rPr lang="en-IN" sz="1200" u="none" strike="noStrike" dirty="0">
                          <a:effectLst/>
                        </a:rPr>
                        <a:t>• Prototype Area</a:t>
                      </a:r>
                      <a:endParaRPr lang="en-IN" sz="1200" b="0" i="0" u="none" strike="noStrike" dirty="0">
                        <a:solidFill>
                          <a:srgbClr val="000000"/>
                        </a:solidFill>
                        <a:effectLst/>
                        <a:latin typeface="Arial" panose="020B0604020202020204" pitchFamily="34" charset="0"/>
                      </a:endParaRPr>
                    </a:p>
                  </a:txBody>
                  <a:tcPr marL="8880" marR="8880" marT="8880" marB="0" anchor="b">
                    <a:noFill/>
                  </a:tcPr>
                </a:tc>
                <a:extLst>
                  <a:ext uri="{0D108BD9-81ED-4DB2-BD59-A6C34878D82A}">
                    <a16:rowId xmlns:a16="http://schemas.microsoft.com/office/drawing/2014/main" val="2636739682"/>
                  </a:ext>
                </a:extLst>
              </a:tr>
              <a:tr h="1429725">
                <a:tc>
                  <a:txBody>
                    <a:bodyPr/>
                    <a:lstStyle/>
                    <a:p>
                      <a:pPr algn="ctr" fontAlgn="ctr">
                        <a:buNone/>
                      </a:pPr>
                      <a:r>
                        <a:rPr lang="en-IN" sz="1200" u="none" strike="noStrike">
                          <a:effectLst/>
                        </a:rPr>
                        <a:t>6</a:t>
                      </a:r>
                      <a:endParaRPr lang="en-IN" sz="1200" b="0" i="0" u="none" strike="noStrike">
                        <a:solidFill>
                          <a:srgbClr val="000000"/>
                        </a:solidFill>
                        <a:effectLst/>
                        <a:latin typeface="Arial" panose="020B0604020202020204" pitchFamily="34" charset="0"/>
                      </a:endParaRPr>
                    </a:p>
                  </a:txBody>
                  <a:tcPr marL="8880" marR="8880" marT="8880" marB="0" anchor="ctr">
                    <a:noFill/>
                  </a:tcPr>
                </a:tc>
                <a:tc>
                  <a:txBody>
                    <a:bodyPr/>
                    <a:lstStyle/>
                    <a:p>
                      <a:pPr algn="ctr" fontAlgn="ctr">
                        <a:buNone/>
                      </a:pPr>
                      <a:r>
                        <a:rPr lang="en-IN" sz="1200" u="none" strike="noStrike" dirty="0">
                          <a:effectLst/>
                        </a:rPr>
                        <a:t>Advayam Motion Control Shield</a:t>
                      </a:r>
                      <a:endParaRPr lang="en-IN" sz="1200" b="0" i="0" u="none" strike="noStrike" dirty="0">
                        <a:solidFill>
                          <a:srgbClr val="000000"/>
                        </a:solidFill>
                        <a:effectLst/>
                        <a:latin typeface="Arial" panose="020B0604020202020204" pitchFamily="34" charset="0"/>
                      </a:endParaRPr>
                    </a:p>
                  </a:txBody>
                  <a:tcPr marL="8880" marR="8880" marT="8880" marB="0" anchor="ctr">
                    <a:noFill/>
                  </a:tcPr>
                </a:tc>
                <a:tc>
                  <a:txBody>
                    <a:bodyPr/>
                    <a:lstStyle/>
                    <a:p>
                      <a:pPr algn="l" fontAlgn="b">
                        <a:lnSpc>
                          <a:spcPct val="120000"/>
                        </a:lnSpc>
                        <a:buNone/>
                      </a:pPr>
                      <a:r>
                        <a:rPr lang="en-IN" sz="1200" u="none" strike="noStrike" dirty="0">
                          <a:effectLst/>
                        </a:rPr>
                        <a:t>• 4-Channel Stepper Motor Driver</a:t>
                      </a:r>
                      <a:br>
                        <a:rPr lang="en-IN" sz="1200" u="none" strike="noStrike" dirty="0">
                          <a:effectLst/>
                        </a:rPr>
                      </a:br>
                      <a:r>
                        <a:rPr lang="en-IN" sz="1200" u="none" strike="noStrike" dirty="0">
                          <a:effectLst/>
                        </a:rPr>
                        <a:t>• Encoder Inputs</a:t>
                      </a:r>
                      <a:br>
                        <a:rPr lang="en-IN" sz="1200" u="none" strike="noStrike" dirty="0">
                          <a:effectLst/>
                        </a:rPr>
                      </a:br>
                      <a:r>
                        <a:rPr lang="en-IN" sz="1200" u="none" strike="noStrike" dirty="0">
                          <a:effectLst/>
                        </a:rPr>
                        <a:t>• Limit Switch Inputs</a:t>
                      </a:r>
                      <a:br>
                        <a:rPr lang="en-IN" sz="1200" u="none" strike="noStrike" dirty="0">
                          <a:effectLst/>
                        </a:rPr>
                      </a:br>
                      <a:r>
                        <a:rPr lang="en-IN" sz="1200" u="none" strike="noStrike" dirty="0">
                          <a:effectLst/>
                        </a:rPr>
                        <a:t>• Servo Outputs</a:t>
                      </a:r>
                      <a:br>
                        <a:rPr lang="en-IN" sz="1200" u="none" strike="noStrike" dirty="0">
                          <a:effectLst/>
                        </a:rPr>
                      </a:br>
                      <a:r>
                        <a:rPr lang="en-IN" sz="1200" u="none" strike="noStrike" dirty="0">
                          <a:effectLst/>
                        </a:rPr>
                        <a:t>• PWM Outputs</a:t>
                      </a:r>
                      <a:br>
                        <a:rPr lang="en-IN" sz="1200" u="none" strike="noStrike" dirty="0">
                          <a:effectLst/>
                        </a:rPr>
                      </a:br>
                      <a:r>
                        <a:rPr lang="en-IN" sz="1200" u="none" strike="noStrike" dirty="0">
                          <a:effectLst/>
                        </a:rPr>
                        <a:t>• DIR/STEP Control Signals</a:t>
                      </a:r>
                      <a:br>
                        <a:rPr lang="en-IN" sz="1200" u="none" strike="noStrike" dirty="0">
                          <a:effectLst/>
                        </a:rPr>
                      </a:br>
                      <a:r>
                        <a:rPr lang="en-IN" sz="1200" u="none" strike="noStrike" dirty="0">
                          <a:effectLst/>
                        </a:rPr>
                        <a:t>• Emergency Stop Input</a:t>
                      </a:r>
                      <a:br>
                        <a:rPr lang="en-IN" sz="1200" u="none" strike="noStrike" dirty="0">
                          <a:effectLst/>
                        </a:rPr>
                      </a:br>
                      <a:r>
                        <a:rPr lang="en-IN" sz="1200" u="none" strike="noStrike" dirty="0">
                          <a:effectLst/>
                        </a:rPr>
                        <a:t>• Status LEDs</a:t>
                      </a:r>
                      <a:br>
                        <a:rPr lang="en-IN" sz="1200" u="none" strike="noStrike" dirty="0">
                          <a:effectLst/>
                        </a:rPr>
                      </a:br>
                      <a:r>
                        <a:rPr lang="en-IN" sz="1200" u="none" strike="noStrike" dirty="0">
                          <a:effectLst/>
                        </a:rPr>
                        <a:t>• I²C / SPI / UART Expansion Headers</a:t>
                      </a:r>
                      <a:br>
                        <a:rPr lang="en-IN" sz="1200" u="none" strike="noStrike" dirty="0">
                          <a:effectLst/>
                        </a:rPr>
                      </a:br>
                      <a:r>
                        <a:rPr lang="en-IN" sz="1200" u="none" strike="noStrike" dirty="0">
                          <a:effectLst/>
                        </a:rPr>
                        <a:t>• GPIO Expansion Headers </a:t>
                      </a:r>
                      <a:endParaRPr lang="en-IN" sz="1200" b="0" i="0" u="none" strike="noStrike" dirty="0">
                        <a:solidFill>
                          <a:srgbClr val="000000"/>
                        </a:solidFill>
                        <a:effectLst/>
                        <a:latin typeface="Arial" panose="020B0604020202020204" pitchFamily="34" charset="0"/>
                      </a:endParaRPr>
                    </a:p>
                  </a:txBody>
                  <a:tcPr marL="8880" marR="8880" marT="8880" marB="0" anchor="b">
                    <a:noFill/>
                  </a:tcPr>
                </a:tc>
                <a:extLst>
                  <a:ext uri="{0D108BD9-81ED-4DB2-BD59-A6C34878D82A}">
                    <a16:rowId xmlns:a16="http://schemas.microsoft.com/office/drawing/2014/main" val="1364565525"/>
                  </a:ext>
                </a:extLst>
              </a:tr>
            </a:tbl>
          </a:graphicData>
        </a:graphic>
      </p:graphicFrame>
    </p:spTree>
    <p:extLst>
      <p:ext uri="{BB962C8B-B14F-4D97-AF65-F5344CB8AC3E}">
        <p14:creationId xmlns:p14="http://schemas.microsoft.com/office/powerpoint/2010/main" val="3380923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7F5B0D-B09F-1707-B1F7-93863DC81F61}"/>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7" name="Picture 6" descr="Efforts are being exerted to efface unique identity of Bharat, but why?">
            <a:extLst>
              <a:ext uri="{FF2B5EF4-FFF2-40B4-BE49-F238E27FC236}">
                <a16:creationId xmlns:a16="http://schemas.microsoft.com/office/drawing/2014/main" id="{D7CDC014-BE2D-AD7D-0A12-800D09DDE7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C1CB2A76-B661-E583-6B76-A2579E9CA120}"/>
              </a:ext>
            </a:extLst>
          </p:cNvPr>
          <p:cNvSpPr/>
          <p:nvPr/>
        </p:nvSpPr>
        <p:spPr>
          <a:xfrm>
            <a:off x="2320669" y="0"/>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F6F2E13A-4102-0403-FA66-6F7752C11794}"/>
              </a:ext>
            </a:extLst>
          </p:cNvPr>
          <p:cNvSpPr txBox="1"/>
          <p:nvPr/>
        </p:nvSpPr>
        <p:spPr>
          <a:xfrm>
            <a:off x="3808507" y="563775"/>
            <a:ext cx="4080434" cy="641971"/>
          </a:xfrm>
          <a:prstGeom prst="rect">
            <a:avLst/>
          </a:prstGeom>
          <a:noFill/>
        </p:spPr>
        <p:txBody>
          <a:bodyPr wrap="square">
            <a:spAutoFit/>
          </a:bodyPr>
          <a:lstStyle/>
          <a:p>
            <a:pPr>
              <a:lnSpc>
                <a:spcPct val="115000"/>
              </a:lnSpc>
              <a:spcBef>
                <a:spcPts val="1200"/>
              </a:spcBef>
              <a:spcAft>
                <a:spcPts val="1200"/>
              </a:spcAft>
              <a:buNone/>
            </a:pPr>
            <a:r>
              <a:rPr lang="en-US" sz="1600" dirty="0">
                <a:solidFill>
                  <a:schemeClr val="accent1">
                    <a:lumMod val="75000"/>
                  </a:schemeClr>
                </a:solidFill>
              </a:rPr>
              <a:t>Project Development activities and Timeline – </a:t>
            </a:r>
            <a:br>
              <a:rPr lang="en-US" sz="1600" dirty="0">
                <a:solidFill>
                  <a:schemeClr val="accent1">
                    <a:lumMod val="75000"/>
                  </a:schemeClr>
                </a:solidFill>
              </a:rPr>
            </a:br>
            <a:r>
              <a:rPr lang="en-US" sz="1600" dirty="0">
                <a:solidFill>
                  <a:schemeClr val="accent1">
                    <a:lumMod val="75000"/>
                  </a:schemeClr>
                </a:solidFill>
              </a:rPr>
              <a:t>Targeted duration 14 months ending 12-2027 </a:t>
            </a:r>
            <a:endParaRPr lang="en-IN" sz="1600" dirty="0">
              <a:solidFill>
                <a:schemeClr val="accent1">
                  <a:lumMod val="75000"/>
                </a:schemeClr>
              </a:solidFill>
            </a:endParaRPr>
          </a:p>
        </p:txBody>
      </p:sp>
      <p:pic>
        <p:nvPicPr>
          <p:cNvPr id="18" name="Picture 17">
            <a:extLst>
              <a:ext uri="{FF2B5EF4-FFF2-40B4-BE49-F238E27FC236}">
                <a16:creationId xmlns:a16="http://schemas.microsoft.com/office/drawing/2014/main" id="{10EDAAE5-F277-C39E-02CC-0255CC639A6C}"/>
              </a:ext>
            </a:extLst>
          </p:cNvPr>
          <p:cNvPicPr>
            <a:picLocks noChangeAspect="1"/>
          </p:cNvPicPr>
          <p:nvPr/>
        </p:nvPicPr>
        <p:blipFill>
          <a:blip r:embed="rId4"/>
          <a:stretch>
            <a:fillRect/>
          </a:stretch>
        </p:blipFill>
        <p:spPr>
          <a:xfrm>
            <a:off x="3026424" y="1287800"/>
            <a:ext cx="5342876" cy="5313303"/>
          </a:xfrm>
          <a:prstGeom prst="rect">
            <a:avLst/>
          </a:prstGeom>
        </p:spPr>
      </p:pic>
    </p:spTree>
    <p:extLst>
      <p:ext uri="{BB962C8B-B14F-4D97-AF65-F5344CB8AC3E}">
        <p14:creationId xmlns:p14="http://schemas.microsoft.com/office/powerpoint/2010/main" val="3339260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4B4A78-7980-D4A6-3637-691021F530A7}"/>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7" name="Picture 6" descr="Efforts are being exerted to efface unique identity of Bharat, but why?">
            <a:extLst>
              <a:ext uri="{FF2B5EF4-FFF2-40B4-BE49-F238E27FC236}">
                <a16:creationId xmlns:a16="http://schemas.microsoft.com/office/drawing/2014/main" id="{603D23EE-AF6A-B4DE-F93E-983B6D4B47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63FDB176-8E16-419B-7C91-626A536FA81F}"/>
              </a:ext>
            </a:extLst>
          </p:cNvPr>
          <p:cNvSpPr/>
          <p:nvPr/>
        </p:nvSpPr>
        <p:spPr>
          <a:xfrm>
            <a:off x="2320669" y="0"/>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pic>
        <p:nvPicPr>
          <p:cNvPr id="11" name="Picture 10">
            <a:extLst>
              <a:ext uri="{FF2B5EF4-FFF2-40B4-BE49-F238E27FC236}">
                <a16:creationId xmlns:a16="http://schemas.microsoft.com/office/drawing/2014/main" id="{872A9542-1B23-2C12-01F5-FD35DBBF9F13}"/>
              </a:ext>
            </a:extLst>
          </p:cNvPr>
          <p:cNvPicPr>
            <a:picLocks noChangeAspect="1"/>
          </p:cNvPicPr>
          <p:nvPr/>
        </p:nvPicPr>
        <p:blipFill>
          <a:blip r:embed="rId4"/>
          <a:srcRect b="29999"/>
          <a:stretch>
            <a:fillRect/>
          </a:stretch>
        </p:blipFill>
        <p:spPr>
          <a:xfrm>
            <a:off x="3113634" y="1282889"/>
            <a:ext cx="5800179" cy="4846735"/>
          </a:xfrm>
          <a:prstGeom prst="rect">
            <a:avLst/>
          </a:prstGeom>
        </p:spPr>
      </p:pic>
      <p:sp>
        <p:nvSpPr>
          <p:cNvPr id="16" name="TextBox 15">
            <a:extLst>
              <a:ext uri="{FF2B5EF4-FFF2-40B4-BE49-F238E27FC236}">
                <a16:creationId xmlns:a16="http://schemas.microsoft.com/office/drawing/2014/main" id="{09B1FD5A-52D8-78FA-18AE-80948EB7D871}"/>
              </a:ext>
            </a:extLst>
          </p:cNvPr>
          <p:cNvSpPr txBox="1"/>
          <p:nvPr/>
        </p:nvSpPr>
        <p:spPr>
          <a:xfrm>
            <a:off x="3808507" y="563775"/>
            <a:ext cx="4080434" cy="641971"/>
          </a:xfrm>
          <a:prstGeom prst="rect">
            <a:avLst/>
          </a:prstGeom>
          <a:noFill/>
        </p:spPr>
        <p:txBody>
          <a:bodyPr wrap="square">
            <a:spAutoFit/>
          </a:bodyPr>
          <a:lstStyle/>
          <a:p>
            <a:pPr>
              <a:lnSpc>
                <a:spcPct val="115000"/>
              </a:lnSpc>
              <a:spcBef>
                <a:spcPts val="1200"/>
              </a:spcBef>
              <a:spcAft>
                <a:spcPts val="1200"/>
              </a:spcAft>
              <a:buNone/>
            </a:pPr>
            <a:r>
              <a:rPr lang="en-US" sz="1600" dirty="0">
                <a:solidFill>
                  <a:schemeClr val="accent1">
                    <a:lumMod val="75000"/>
                  </a:schemeClr>
                </a:solidFill>
              </a:rPr>
              <a:t>Project Development activities and Timeline – </a:t>
            </a:r>
            <a:br>
              <a:rPr lang="en-US" sz="1600" dirty="0">
                <a:solidFill>
                  <a:schemeClr val="accent1">
                    <a:lumMod val="75000"/>
                  </a:schemeClr>
                </a:solidFill>
              </a:rPr>
            </a:br>
            <a:r>
              <a:rPr lang="en-US" sz="1600" dirty="0">
                <a:solidFill>
                  <a:schemeClr val="accent1">
                    <a:lumMod val="75000"/>
                  </a:schemeClr>
                </a:solidFill>
              </a:rPr>
              <a:t>Targeted duration 14 months ending 12-2027 </a:t>
            </a:r>
            <a:endParaRPr lang="en-IN" sz="1600" dirty="0">
              <a:solidFill>
                <a:schemeClr val="accent1">
                  <a:lumMod val="75000"/>
                </a:schemeClr>
              </a:solidFill>
            </a:endParaRPr>
          </a:p>
        </p:txBody>
      </p:sp>
    </p:spTree>
    <p:extLst>
      <p:ext uri="{BB962C8B-B14F-4D97-AF65-F5344CB8AC3E}">
        <p14:creationId xmlns:p14="http://schemas.microsoft.com/office/powerpoint/2010/main" val="34058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9D8EBC-99F1-62B3-1266-913827664AF9}"/>
              </a:ext>
            </a:extLst>
          </p:cNvPr>
          <p:cNvPicPr>
            <a:picLocks noChangeAspect="1"/>
          </p:cNvPicPr>
          <p:nvPr/>
        </p:nvPicPr>
        <p:blipFill>
          <a:blip r:embed="rId2"/>
          <a:stretch>
            <a:fillRect/>
          </a:stretch>
        </p:blipFill>
        <p:spPr>
          <a:xfrm>
            <a:off x="2981984" y="2828077"/>
            <a:ext cx="5965302" cy="3491617"/>
          </a:xfrm>
          <a:prstGeom prst="rect">
            <a:avLst/>
          </a:prstGeom>
        </p:spPr>
      </p:pic>
      <p:pic>
        <p:nvPicPr>
          <p:cNvPr id="7" name="Picture 6">
            <a:extLst>
              <a:ext uri="{FF2B5EF4-FFF2-40B4-BE49-F238E27FC236}">
                <a16:creationId xmlns:a16="http://schemas.microsoft.com/office/drawing/2014/main" id="{44C18275-4C03-BD43-1D69-49A3ED4B17D0}"/>
              </a:ext>
            </a:extLst>
          </p:cNvPr>
          <p:cNvPicPr>
            <a:picLocks noChangeAspect="1"/>
          </p:cNvPicPr>
          <p:nvPr/>
        </p:nvPicPr>
        <p:blipFill>
          <a:blip r:embed="rId3"/>
          <a:srcRect t="69472"/>
          <a:stretch>
            <a:fillRect/>
          </a:stretch>
        </p:blipFill>
        <p:spPr>
          <a:xfrm>
            <a:off x="3004517" y="723539"/>
            <a:ext cx="5932465" cy="2161928"/>
          </a:xfrm>
          <a:prstGeom prst="rect">
            <a:avLst/>
          </a:prstGeom>
        </p:spPr>
      </p:pic>
      <p:pic>
        <p:nvPicPr>
          <p:cNvPr id="9" name="Picture 8">
            <a:extLst>
              <a:ext uri="{FF2B5EF4-FFF2-40B4-BE49-F238E27FC236}">
                <a16:creationId xmlns:a16="http://schemas.microsoft.com/office/drawing/2014/main" id="{D5A64D98-9A22-B9BB-B280-9AA5FE781FA9}"/>
              </a:ext>
            </a:extLst>
          </p:cNvPr>
          <p:cNvPicPr>
            <a:picLocks noChangeAspect="1"/>
          </p:cNvPicPr>
          <p:nvPr/>
        </p:nvPicPr>
        <p:blipFill>
          <a:blip r:embed="rId4">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11" name="Picture 10" descr="Efforts are being exerted to efface unique identity of Bharat, but why?">
            <a:extLst>
              <a:ext uri="{FF2B5EF4-FFF2-40B4-BE49-F238E27FC236}">
                <a16:creationId xmlns:a16="http://schemas.microsoft.com/office/drawing/2014/main" id="{07F87119-C465-3DF5-DFA0-559C753290C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612973CE-3093-D672-2DDE-9896395251AF}"/>
              </a:ext>
            </a:extLst>
          </p:cNvPr>
          <p:cNvSpPr/>
          <p:nvPr/>
        </p:nvSpPr>
        <p:spPr>
          <a:xfrm>
            <a:off x="2320669" y="0"/>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56626AAB-884D-8F66-1191-2696185BFE30}"/>
              </a:ext>
            </a:extLst>
          </p:cNvPr>
          <p:cNvSpPr txBox="1"/>
          <p:nvPr/>
        </p:nvSpPr>
        <p:spPr>
          <a:xfrm>
            <a:off x="0" y="6468042"/>
            <a:ext cx="9906000" cy="307777"/>
          </a:xfrm>
          <a:prstGeom prst="rect">
            <a:avLst/>
          </a:prstGeom>
          <a:noFill/>
        </p:spPr>
        <p:txBody>
          <a:bodyPr wrap="square">
            <a:spAutoFit/>
          </a:bodyPr>
          <a:lstStyle/>
          <a:p>
            <a:pPr algn="ctr">
              <a:spcBef>
                <a:spcPts val="300"/>
              </a:spcBef>
              <a:spcAft>
                <a:spcPts val="300"/>
              </a:spcAft>
            </a:pPr>
            <a:r>
              <a:rPr lang="en-US" sz="1400" b="1" dirty="0">
                <a:solidFill>
                  <a:schemeClr val="accent5">
                    <a:lumMod val="50000"/>
                  </a:schemeClr>
                </a:solidFill>
              </a:rPr>
              <a:t>At the end of the project, Advayam is slated to take on Arduino in its full might</a:t>
            </a:r>
          </a:p>
        </p:txBody>
      </p:sp>
    </p:spTree>
    <p:extLst>
      <p:ext uri="{BB962C8B-B14F-4D97-AF65-F5344CB8AC3E}">
        <p14:creationId xmlns:p14="http://schemas.microsoft.com/office/powerpoint/2010/main" val="61405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43E4061-45EE-DFE0-9152-A9B7FAAE70A3}"/>
              </a:ext>
            </a:extLst>
          </p:cNvPr>
          <p:cNvGraphicFramePr>
            <a:graphicFrameLocks noGrp="1"/>
          </p:cNvGraphicFramePr>
          <p:nvPr>
            <p:extLst>
              <p:ext uri="{D42A27DB-BD31-4B8C-83A1-F6EECF244321}">
                <p14:modId xmlns:p14="http://schemas.microsoft.com/office/powerpoint/2010/main" val="1051144429"/>
              </p:ext>
            </p:extLst>
          </p:nvPr>
        </p:nvGraphicFramePr>
        <p:xfrm>
          <a:off x="2045101" y="1176037"/>
          <a:ext cx="7788276" cy="5513646"/>
        </p:xfrm>
        <a:graphic>
          <a:graphicData uri="http://schemas.openxmlformats.org/drawingml/2006/table">
            <a:tbl>
              <a:tblPr firstRow="1" firstCol="1" bandRow="1">
                <a:tableStyleId>{5C22544A-7EE6-4342-B048-85BDC9FD1C3A}</a:tableStyleId>
              </a:tblPr>
              <a:tblGrid>
                <a:gridCol w="254429">
                  <a:extLst>
                    <a:ext uri="{9D8B030D-6E8A-4147-A177-3AD203B41FA5}">
                      <a16:colId xmlns:a16="http://schemas.microsoft.com/office/drawing/2014/main" val="3204056521"/>
                    </a:ext>
                  </a:extLst>
                </a:gridCol>
                <a:gridCol w="1499500">
                  <a:extLst>
                    <a:ext uri="{9D8B030D-6E8A-4147-A177-3AD203B41FA5}">
                      <a16:colId xmlns:a16="http://schemas.microsoft.com/office/drawing/2014/main" val="1017195617"/>
                    </a:ext>
                  </a:extLst>
                </a:gridCol>
                <a:gridCol w="881604">
                  <a:extLst>
                    <a:ext uri="{9D8B030D-6E8A-4147-A177-3AD203B41FA5}">
                      <a16:colId xmlns:a16="http://schemas.microsoft.com/office/drawing/2014/main" val="2383461835"/>
                    </a:ext>
                  </a:extLst>
                </a:gridCol>
                <a:gridCol w="949201">
                  <a:extLst>
                    <a:ext uri="{9D8B030D-6E8A-4147-A177-3AD203B41FA5}">
                      <a16:colId xmlns:a16="http://schemas.microsoft.com/office/drawing/2014/main" val="2646828274"/>
                    </a:ext>
                  </a:extLst>
                </a:gridCol>
                <a:gridCol w="1120589">
                  <a:extLst>
                    <a:ext uri="{9D8B030D-6E8A-4147-A177-3AD203B41FA5}">
                      <a16:colId xmlns:a16="http://schemas.microsoft.com/office/drawing/2014/main" val="3171238291"/>
                    </a:ext>
                  </a:extLst>
                </a:gridCol>
                <a:gridCol w="3082953">
                  <a:extLst>
                    <a:ext uri="{9D8B030D-6E8A-4147-A177-3AD203B41FA5}">
                      <a16:colId xmlns:a16="http://schemas.microsoft.com/office/drawing/2014/main" val="1673510003"/>
                    </a:ext>
                  </a:extLst>
                </a:gridCol>
              </a:tblGrid>
              <a:tr h="565150">
                <a:tc>
                  <a:txBody>
                    <a:bodyPr/>
                    <a:lstStyle/>
                    <a:p>
                      <a:pPr>
                        <a:lnSpc>
                          <a:spcPct val="115000"/>
                        </a:lnSpc>
                        <a:spcAft>
                          <a:spcPts val="1000"/>
                        </a:spcAft>
                        <a:buNone/>
                      </a:pPr>
                      <a:r>
                        <a:rPr lang="en-US" sz="1400" dirty="0">
                          <a:effectLst/>
                        </a:rPr>
                        <a:t>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dirty="0">
                          <a:effectLst/>
                        </a:rPr>
                        <a:t>Expenditure Head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dirty="0">
                          <a:effectLst/>
                        </a:rPr>
                        <a:t>Total Cost (₹)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Grant-in-Aid Sought  (₹)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Applicant Contribution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ctr">
                        <a:lnSpc>
                          <a:spcPct val="115000"/>
                        </a:lnSpc>
                        <a:spcAft>
                          <a:spcPts val="1000"/>
                        </a:spcAft>
                        <a:buNone/>
                      </a:pPr>
                      <a:r>
                        <a:rPr lang="en-US" sz="1400">
                          <a:effectLst/>
                        </a:rPr>
                        <a:t>Details</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extLst>
                  <a:ext uri="{0D108BD9-81ED-4DB2-BD59-A6C34878D82A}">
                    <a16:rowId xmlns:a16="http://schemas.microsoft.com/office/drawing/2014/main" val="137984641"/>
                  </a:ext>
                </a:extLst>
              </a:tr>
              <a:tr h="565150">
                <a:tc>
                  <a:txBody>
                    <a:bodyPr/>
                    <a:lstStyle/>
                    <a:p>
                      <a:pPr algn="r">
                        <a:lnSpc>
                          <a:spcPct val="115000"/>
                        </a:lnSpc>
                        <a:spcAft>
                          <a:spcPts val="1000"/>
                        </a:spcAft>
                        <a:buNone/>
                      </a:pPr>
                      <a:r>
                        <a:rPr lang="en-US" sz="1400">
                          <a:effectLst/>
                        </a:rPr>
                        <a:t>1</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Deployment &amp; Integration in Live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18,00,000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15,00,000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3,00,000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Manpower cost, Logistics for demonstrations and evangelisation of Advayam among the student community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b"/>
                </a:tc>
                <a:extLst>
                  <a:ext uri="{0D108BD9-81ED-4DB2-BD59-A6C34878D82A}">
                    <a16:rowId xmlns:a16="http://schemas.microsoft.com/office/drawing/2014/main" val="300561408"/>
                  </a:ext>
                </a:extLst>
              </a:tr>
              <a:tr h="189860">
                <a:tc>
                  <a:txBody>
                    <a:bodyPr/>
                    <a:lstStyle/>
                    <a:p>
                      <a:pPr algn="r">
                        <a:lnSpc>
                          <a:spcPct val="115000"/>
                        </a:lnSpc>
                        <a:spcAft>
                          <a:spcPts val="1000"/>
                        </a:spcAft>
                        <a:buNone/>
                      </a:pPr>
                      <a:r>
                        <a:rPr lang="en-US" sz="1400">
                          <a:effectLst/>
                        </a:rPr>
                        <a:t>2</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Environment</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b"/>
                </a:tc>
                <a:extLst>
                  <a:ext uri="{0D108BD9-81ED-4DB2-BD59-A6C34878D82A}">
                    <a16:rowId xmlns:a16="http://schemas.microsoft.com/office/drawing/2014/main" val="1067709755"/>
                  </a:ext>
                </a:extLst>
              </a:tr>
              <a:tr h="569580">
                <a:tc>
                  <a:txBody>
                    <a:bodyPr/>
                    <a:lstStyle/>
                    <a:p>
                      <a:pPr algn="r">
                        <a:lnSpc>
                          <a:spcPct val="115000"/>
                        </a:lnSpc>
                        <a:spcAft>
                          <a:spcPts val="1000"/>
                        </a:spcAft>
                        <a:buNone/>
                      </a:pPr>
                      <a:r>
                        <a:rPr lang="en-US" sz="1400">
                          <a:effectLst/>
                        </a:rPr>
                        <a:t>3</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Equipment &amp; Software Requirements</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dirty="0">
                          <a:effectLst/>
                        </a:rPr>
                        <a:t>10,00,000</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6,00,000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4,00,000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dirty="0">
                          <a:effectLst/>
                        </a:rPr>
                        <a:t>Equipment like a 4-channel DSO, a desktop multimeter, Analogue simulator license, etc.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extLst>
                  <a:ext uri="{0D108BD9-81ED-4DB2-BD59-A6C34878D82A}">
                    <a16:rowId xmlns:a16="http://schemas.microsoft.com/office/drawing/2014/main" val="1065628632"/>
                  </a:ext>
                </a:extLst>
              </a:tr>
              <a:tr h="569580">
                <a:tc>
                  <a:txBody>
                    <a:bodyPr/>
                    <a:lstStyle/>
                    <a:p>
                      <a:pPr algn="r">
                        <a:lnSpc>
                          <a:spcPct val="115000"/>
                        </a:lnSpc>
                        <a:spcAft>
                          <a:spcPts val="1000"/>
                        </a:spcAft>
                        <a:buNone/>
                      </a:pPr>
                      <a:r>
                        <a:rPr lang="en-US" sz="1400">
                          <a:effectLst/>
                        </a:rPr>
                        <a:t>4</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Testing, Monitoring &amp; Validation</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5,00,000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3,00,000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2,00,000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Design and fabrication of testing facility, rigging up Test systems and testing facility in the labs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extLst>
                  <a:ext uri="{0D108BD9-81ED-4DB2-BD59-A6C34878D82A}">
                    <a16:rowId xmlns:a16="http://schemas.microsoft.com/office/drawing/2014/main" val="3081180617"/>
                  </a:ext>
                </a:extLst>
              </a:tr>
              <a:tr h="379720">
                <a:tc>
                  <a:txBody>
                    <a:bodyPr/>
                    <a:lstStyle/>
                    <a:p>
                      <a:pPr algn="r">
                        <a:lnSpc>
                          <a:spcPct val="115000"/>
                        </a:lnSpc>
                        <a:spcAft>
                          <a:spcPts val="1000"/>
                        </a:spcAft>
                        <a:buNone/>
                      </a:pPr>
                      <a:r>
                        <a:rPr lang="en-US" sz="1400">
                          <a:effectLst/>
                        </a:rPr>
                        <a:t>5</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Network Usage &amp; Operational Costs</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3,00,000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1,00,000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2,00,000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Internet charges, Online AI engine rental charges, power and other charges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extLst>
                  <a:ext uri="{0D108BD9-81ED-4DB2-BD59-A6C34878D82A}">
                    <a16:rowId xmlns:a16="http://schemas.microsoft.com/office/drawing/2014/main" val="253591719"/>
                  </a:ext>
                </a:extLst>
              </a:tr>
              <a:tr h="373012">
                <a:tc>
                  <a:txBody>
                    <a:bodyPr/>
                    <a:lstStyle/>
                    <a:p>
                      <a:pPr algn="r">
                        <a:lnSpc>
                          <a:spcPct val="115000"/>
                        </a:lnSpc>
                        <a:spcAft>
                          <a:spcPts val="1000"/>
                        </a:spcAft>
                        <a:buNone/>
                      </a:pPr>
                      <a:r>
                        <a:rPr lang="en-US" sz="1400">
                          <a:effectLst/>
                        </a:rPr>
                        <a:t>6</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Certification (if applicable)</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b"/>
                </a:tc>
                <a:extLst>
                  <a:ext uri="{0D108BD9-81ED-4DB2-BD59-A6C34878D82A}">
                    <a16:rowId xmlns:a16="http://schemas.microsoft.com/office/drawing/2014/main" val="3870797446"/>
                  </a:ext>
                </a:extLst>
              </a:tr>
              <a:tr h="949426">
                <a:tc>
                  <a:txBody>
                    <a:bodyPr/>
                    <a:lstStyle/>
                    <a:p>
                      <a:pPr algn="r">
                        <a:lnSpc>
                          <a:spcPct val="115000"/>
                        </a:lnSpc>
                        <a:spcAft>
                          <a:spcPts val="1000"/>
                        </a:spcAft>
                        <a:buNone/>
                      </a:pPr>
                      <a:r>
                        <a:rPr lang="en-US" sz="1400">
                          <a:effectLst/>
                        </a:rPr>
                        <a:t>7</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Other - Component purchase, PCB fabrication, Logistics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19,00,000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15,00,000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gn="r">
                        <a:lnSpc>
                          <a:spcPct val="115000"/>
                        </a:lnSpc>
                        <a:spcAft>
                          <a:spcPts val="1000"/>
                        </a:spcAft>
                        <a:buNone/>
                      </a:pPr>
                      <a:r>
                        <a:rPr lang="en-US" sz="1400">
                          <a:effectLst/>
                        </a:rPr>
                        <a:t>4,00,000</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a:effectLst/>
                        </a:rPr>
                        <a:t>PCB fabrication, component purchase cost, soldering cost, cost of Arduino module for experimentation, Assembly cost, Purchase / 3D print mechanical systems to integrate the modules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extLst>
                  <a:ext uri="{0D108BD9-81ED-4DB2-BD59-A6C34878D82A}">
                    <a16:rowId xmlns:a16="http://schemas.microsoft.com/office/drawing/2014/main" val="1194900704"/>
                  </a:ext>
                </a:extLst>
              </a:tr>
              <a:tr h="189860">
                <a:tc>
                  <a:txBody>
                    <a:bodyPr/>
                    <a:lstStyle/>
                    <a:p>
                      <a:pPr>
                        <a:lnSpc>
                          <a:spcPct val="115000"/>
                        </a:lnSpc>
                        <a:spcAft>
                          <a:spcPts val="1000"/>
                        </a:spcAft>
                        <a:buNone/>
                      </a:pPr>
                      <a:r>
                        <a:rPr lang="en-US" sz="1400">
                          <a:effectLst/>
                        </a:rPr>
                        <a:t> </a:t>
                      </a:r>
                      <a:endParaRPr lang="en-IN" sz="140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tc>
                <a:tc>
                  <a:txBody>
                    <a:bodyPr/>
                    <a:lstStyle/>
                    <a:p>
                      <a:pPr>
                        <a:lnSpc>
                          <a:spcPct val="115000"/>
                        </a:lnSpc>
                        <a:spcAft>
                          <a:spcPts val="1000"/>
                        </a:spcAft>
                        <a:buNone/>
                      </a:pPr>
                      <a:r>
                        <a:rPr lang="en-US" sz="1400" dirty="0">
                          <a:effectLst/>
                        </a:rPr>
                        <a:t>Total in INR </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solidFill>
                      <a:schemeClr val="accent2">
                        <a:lumMod val="40000"/>
                        <a:lumOff val="60000"/>
                      </a:schemeClr>
                    </a:solidFill>
                  </a:tcPr>
                </a:tc>
                <a:tc>
                  <a:txBody>
                    <a:bodyPr/>
                    <a:lstStyle/>
                    <a:p>
                      <a:pPr algn="r">
                        <a:lnSpc>
                          <a:spcPct val="115000"/>
                        </a:lnSpc>
                        <a:spcAft>
                          <a:spcPts val="1000"/>
                        </a:spcAft>
                        <a:buNone/>
                      </a:pPr>
                      <a:r>
                        <a:rPr lang="en-US" sz="1400" dirty="0">
                          <a:effectLst/>
                        </a:rPr>
                        <a:t>55,00,000</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solidFill>
                      <a:schemeClr val="accent2">
                        <a:lumMod val="40000"/>
                        <a:lumOff val="60000"/>
                      </a:schemeClr>
                    </a:solidFill>
                  </a:tcPr>
                </a:tc>
                <a:tc>
                  <a:txBody>
                    <a:bodyPr/>
                    <a:lstStyle/>
                    <a:p>
                      <a:pPr algn="r">
                        <a:lnSpc>
                          <a:spcPct val="115000"/>
                        </a:lnSpc>
                        <a:spcAft>
                          <a:spcPts val="1000"/>
                        </a:spcAft>
                        <a:buNone/>
                      </a:pPr>
                      <a:r>
                        <a:rPr lang="en-US" sz="1400" dirty="0">
                          <a:effectLst/>
                        </a:rPr>
                        <a:t>40,00,000</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solidFill>
                      <a:schemeClr val="accent2">
                        <a:lumMod val="40000"/>
                        <a:lumOff val="60000"/>
                      </a:schemeClr>
                    </a:solidFill>
                  </a:tcPr>
                </a:tc>
                <a:tc>
                  <a:txBody>
                    <a:bodyPr/>
                    <a:lstStyle/>
                    <a:p>
                      <a:pPr algn="r">
                        <a:lnSpc>
                          <a:spcPct val="115000"/>
                        </a:lnSpc>
                        <a:spcAft>
                          <a:spcPts val="1000"/>
                        </a:spcAft>
                        <a:buNone/>
                      </a:pPr>
                      <a:r>
                        <a:rPr lang="en-US" sz="1400" dirty="0">
                          <a:effectLst/>
                        </a:rPr>
                        <a:t>15,00,000</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ctr">
                    <a:solidFill>
                      <a:schemeClr val="accent2">
                        <a:lumMod val="40000"/>
                        <a:lumOff val="60000"/>
                      </a:schemeClr>
                    </a:solidFill>
                  </a:tcPr>
                </a:tc>
                <a:tc>
                  <a:txBody>
                    <a:bodyPr/>
                    <a:lstStyle/>
                    <a:p>
                      <a:pPr>
                        <a:lnSpc>
                          <a:spcPct val="115000"/>
                        </a:lnSpc>
                        <a:spcAft>
                          <a:spcPts val="1000"/>
                        </a:spcAft>
                        <a:buNone/>
                      </a:pPr>
                      <a:r>
                        <a:rPr lang="en-US" sz="1400" dirty="0">
                          <a:effectLst/>
                        </a:rPr>
                        <a:t>Webyfy contribution shall be Rs 15 lakhs</a:t>
                      </a:r>
                      <a:endParaRPr lang="en-IN" sz="1400" dirty="0">
                        <a:effectLst/>
                        <a:latin typeface="Calibri" panose="020F0502020204030204" pitchFamily="34" charset="0"/>
                        <a:ea typeface="SimSun" panose="02010600030101010101" pitchFamily="2" charset="-122"/>
                        <a:cs typeface="Times New Roman" panose="02020603050405020304" pitchFamily="18" charset="0"/>
                      </a:endParaRPr>
                    </a:p>
                  </a:txBody>
                  <a:tcPr marL="68350" marR="68350" marT="0" marB="0" anchor="b">
                    <a:solidFill>
                      <a:schemeClr val="accent2">
                        <a:lumMod val="40000"/>
                        <a:lumOff val="60000"/>
                      </a:schemeClr>
                    </a:solidFill>
                  </a:tcPr>
                </a:tc>
                <a:extLst>
                  <a:ext uri="{0D108BD9-81ED-4DB2-BD59-A6C34878D82A}">
                    <a16:rowId xmlns:a16="http://schemas.microsoft.com/office/drawing/2014/main" val="3427231868"/>
                  </a:ext>
                </a:extLst>
              </a:tr>
            </a:tbl>
          </a:graphicData>
        </a:graphic>
      </p:graphicFrame>
      <p:pic>
        <p:nvPicPr>
          <p:cNvPr id="6" name="Picture 5">
            <a:extLst>
              <a:ext uri="{FF2B5EF4-FFF2-40B4-BE49-F238E27FC236}">
                <a16:creationId xmlns:a16="http://schemas.microsoft.com/office/drawing/2014/main" id="{2D2847EA-79D4-0C57-FEBC-248DE0546400}"/>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8" name="Picture 7" descr="Efforts are being exerted to efface unique identity of Bharat, but why?">
            <a:extLst>
              <a:ext uri="{FF2B5EF4-FFF2-40B4-BE49-F238E27FC236}">
                <a16:creationId xmlns:a16="http://schemas.microsoft.com/office/drawing/2014/main" id="{7B5E7945-FF5D-3609-A3EA-61FADF9F88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3"/>
            <a:ext cx="1852059" cy="195745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1769BDE3-6220-ECA3-DBE2-CE4DBF84A700}"/>
              </a:ext>
            </a:extLst>
          </p:cNvPr>
          <p:cNvSpPr/>
          <p:nvPr/>
        </p:nvSpPr>
        <p:spPr>
          <a:xfrm>
            <a:off x="2320669" y="-80685"/>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BECE8E86-8A0B-F030-0CF0-A63E26324549}"/>
              </a:ext>
            </a:extLst>
          </p:cNvPr>
          <p:cNvSpPr txBox="1"/>
          <p:nvPr/>
        </p:nvSpPr>
        <p:spPr>
          <a:xfrm>
            <a:off x="1524000" y="447358"/>
            <a:ext cx="8309377" cy="641971"/>
          </a:xfrm>
          <a:prstGeom prst="rect">
            <a:avLst/>
          </a:prstGeom>
          <a:noFill/>
        </p:spPr>
        <p:txBody>
          <a:bodyPr wrap="square">
            <a:spAutoFit/>
          </a:bodyPr>
          <a:lstStyle/>
          <a:p>
            <a:pPr algn="ctr">
              <a:lnSpc>
                <a:spcPct val="115000"/>
              </a:lnSpc>
              <a:spcBef>
                <a:spcPts val="1200"/>
              </a:spcBef>
              <a:spcAft>
                <a:spcPts val="1200"/>
              </a:spcAft>
              <a:buNone/>
            </a:pPr>
            <a:r>
              <a:rPr lang="en-US" sz="1600" dirty="0">
                <a:solidFill>
                  <a:schemeClr val="accent1">
                    <a:lumMod val="75000"/>
                  </a:schemeClr>
                </a:solidFill>
              </a:rPr>
              <a:t>Total Project estimated cost is Rs 55 lakhs, </a:t>
            </a:r>
            <a:br>
              <a:rPr lang="en-US" sz="1600" dirty="0">
                <a:solidFill>
                  <a:schemeClr val="accent1">
                    <a:lumMod val="75000"/>
                  </a:schemeClr>
                </a:solidFill>
              </a:rPr>
            </a:br>
            <a:r>
              <a:rPr lang="en-US" sz="1600" dirty="0">
                <a:solidFill>
                  <a:schemeClr val="accent1">
                    <a:lumMod val="75000"/>
                  </a:schemeClr>
                </a:solidFill>
              </a:rPr>
              <a:t>out of which Webyfy shall contribute Rs 15 lakhs NOT considering the contributions already made </a:t>
            </a:r>
            <a:endParaRPr lang="en-IN" sz="1600" dirty="0">
              <a:solidFill>
                <a:schemeClr val="accent1">
                  <a:lumMod val="75000"/>
                </a:schemeClr>
              </a:solidFill>
            </a:endParaRPr>
          </a:p>
        </p:txBody>
      </p:sp>
    </p:spTree>
    <p:extLst>
      <p:ext uri="{BB962C8B-B14F-4D97-AF65-F5344CB8AC3E}">
        <p14:creationId xmlns:p14="http://schemas.microsoft.com/office/powerpoint/2010/main" val="1988947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900240-8525-76DF-D2D0-62867714BBB6}"/>
              </a:ext>
            </a:extLst>
          </p:cNvPr>
          <p:cNvPicPr>
            <a:picLocks noChangeAspect="1"/>
          </p:cNvPicPr>
          <p:nvPr/>
        </p:nvPicPr>
        <p:blipFill>
          <a:blip r:embed="rId2">
            <a:duotone>
              <a:schemeClr val="accent2">
                <a:shade val="45000"/>
                <a:satMod val="135000"/>
              </a:schemeClr>
              <a:prstClr val="white"/>
            </a:duotone>
          </a:blip>
          <a:stretch>
            <a:fillRect/>
          </a:stretch>
        </p:blipFill>
        <p:spPr>
          <a:xfrm>
            <a:off x="239282" y="236069"/>
            <a:ext cx="1119499" cy="682895"/>
          </a:xfrm>
          <a:prstGeom prst="rect">
            <a:avLst/>
          </a:prstGeom>
        </p:spPr>
      </p:pic>
      <p:pic>
        <p:nvPicPr>
          <p:cNvPr id="7" name="Picture 6" descr="Efforts are being exerted to efface unique identity of Bharat, but why?">
            <a:extLst>
              <a:ext uri="{FF2B5EF4-FFF2-40B4-BE49-F238E27FC236}">
                <a16:creationId xmlns:a16="http://schemas.microsoft.com/office/drawing/2014/main" id="{AC737860-1EA7-7202-9046-35FE171E9C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26" r="13404"/>
          <a:stretch>
            <a:fillRect/>
          </a:stretch>
        </p:blipFill>
        <p:spPr bwMode="auto">
          <a:xfrm>
            <a:off x="72623" y="2282852"/>
            <a:ext cx="2168871" cy="229229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5146A0A-DD1C-144C-1038-7DE362EB6299}"/>
              </a:ext>
            </a:extLst>
          </p:cNvPr>
          <p:cNvSpPr/>
          <p:nvPr/>
        </p:nvSpPr>
        <p:spPr>
          <a:xfrm>
            <a:off x="2320669" y="0"/>
            <a:ext cx="6701172" cy="584775"/>
          </a:xfrm>
          <a:prstGeom prst="rect">
            <a:avLst/>
          </a:prstGeom>
        </p:spPr>
        <p:txBody>
          <a:bodyPr wrap="square">
            <a:spAutoFit/>
          </a:bodyPr>
          <a:lstStyle/>
          <a:p>
            <a:pPr algn="ctr"/>
            <a:r>
              <a:rPr lang="en-US" sz="1600" b="1" dirty="0">
                <a:solidFill>
                  <a:srgbClr val="BE5209"/>
                </a:solidFill>
                <a:latin typeface="Segoe UI" panose="020B0502040204020203" pitchFamily="34" charset="0"/>
                <a:cs typeface="Segoe UI" panose="020B0502040204020203" pitchFamily="34" charset="0"/>
              </a:rPr>
              <a:t>Advayam</a:t>
            </a:r>
            <a:r>
              <a:rPr lang="en-US" b="1" dirty="0">
                <a:solidFill>
                  <a:srgbClr val="BE5209"/>
                </a:solidFill>
                <a:latin typeface="Segoe UI" panose="020B0502040204020203" pitchFamily="34" charset="0"/>
                <a:cs typeface="Segoe UI" panose="020B0502040204020203" pitchFamily="34" charset="0"/>
              </a:rPr>
              <a:t> </a:t>
            </a:r>
            <a:br>
              <a:rPr lang="en-US" b="1" dirty="0">
                <a:solidFill>
                  <a:srgbClr val="BE5209"/>
                </a:solidFill>
                <a:latin typeface="Segoe UI" panose="020B0502040204020203" pitchFamily="34" charset="0"/>
                <a:cs typeface="Segoe UI" panose="020B0502040204020203" pitchFamily="34" charset="0"/>
              </a:rPr>
            </a:br>
            <a:r>
              <a:rPr lang="en-US" sz="1400" dirty="0">
                <a:solidFill>
                  <a:srgbClr val="BE5209"/>
                </a:solidFill>
                <a:latin typeface="Segoe UI" panose="020B0502040204020203" pitchFamily="34" charset="0"/>
                <a:cs typeface="Segoe UI" panose="020B0502040204020203" pitchFamily="34" charset="0"/>
              </a:rPr>
              <a:t>An Open-Source Learning. Prototyping and product creation platform</a:t>
            </a:r>
            <a:endParaRPr lang="en-IN" sz="1400" dirty="0">
              <a:solidFill>
                <a:srgbClr val="BE5209"/>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962AF689-9B2E-28ED-178C-71CB0569B40D}"/>
              </a:ext>
            </a:extLst>
          </p:cNvPr>
          <p:cNvSpPr txBox="1"/>
          <p:nvPr/>
        </p:nvSpPr>
        <p:spPr>
          <a:xfrm>
            <a:off x="2440642" y="774387"/>
            <a:ext cx="6775076" cy="4760214"/>
          </a:xfrm>
          <a:prstGeom prst="rect">
            <a:avLst/>
          </a:prstGeom>
          <a:noFill/>
        </p:spPr>
        <p:txBody>
          <a:bodyPr wrap="square">
            <a:spAutoFit/>
          </a:bodyPr>
          <a:lstStyle/>
          <a:p>
            <a:pPr marL="285750" indent="-285750" algn="just">
              <a:lnSpc>
                <a:spcPct val="130000"/>
              </a:lnSpc>
              <a:spcBef>
                <a:spcPts val="600"/>
              </a:spcBef>
              <a:spcAft>
                <a:spcPts val="600"/>
              </a:spcAft>
              <a:buFont typeface="Wingdings" panose="05000000000000000000" pitchFamily="2" charset="2"/>
              <a:buChar char="§"/>
            </a:pPr>
            <a:r>
              <a:rPr lang="en-US" sz="1400" dirty="0"/>
              <a:t>Advayam represents the evolution of embedded systems development — combining the simplicity of Arduino with the power of modern embedded computing frameworks.</a:t>
            </a:r>
            <a:endParaRPr lang="en-IN" sz="1400" dirty="0"/>
          </a:p>
          <a:p>
            <a:pPr marL="285750" indent="-285750" algn="just">
              <a:lnSpc>
                <a:spcPct val="130000"/>
              </a:lnSpc>
              <a:spcBef>
                <a:spcPts val="600"/>
              </a:spcBef>
              <a:spcAft>
                <a:spcPts val="600"/>
              </a:spcAft>
              <a:buFont typeface="Wingdings" panose="05000000000000000000" pitchFamily="2" charset="2"/>
              <a:buChar char="§"/>
            </a:pPr>
            <a:r>
              <a:rPr lang="en-US" sz="1400" dirty="0"/>
              <a:t>By supporting multiple programming languages, real-time operating systems, IoT integration, and scalable hardware architectures, Advayam creates a unified ecosystem for education, research, innovation, and industrial product development.</a:t>
            </a:r>
            <a:endParaRPr lang="en-IN" sz="1400" dirty="0"/>
          </a:p>
          <a:p>
            <a:pPr marL="285750" indent="-285750" algn="just">
              <a:lnSpc>
                <a:spcPct val="130000"/>
              </a:lnSpc>
              <a:spcBef>
                <a:spcPts val="600"/>
              </a:spcBef>
              <a:spcAft>
                <a:spcPts val="600"/>
              </a:spcAft>
              <a:buFont typeface="Wingdings" panose="05000000000000000000" pitchFamily="2" charset="2"/>
              <a:buChar char="§"/>
            </a:pPr>
            <a:r>
              <a:rPr lang="en-US" sz="1400" dirty="0"/>
              <a:t>Advayam is not merely an alternative to Arduino — it is a next-generation embedded development platform designed for the future of connected intelligent systems. </a:t>
            </a:r>
            <a:endParaRPr lang="en-IN" sz="1400" dirty="0"/>
          </a:p>
          <a:p>
            <a:pPr marL="285750" indent="-285750" algn="just">
              <a:lnSpc>
                <a:spcPct val="130000"/>
              </a:lnSpc>
              <a:spcBef>
                <a:spcPts val="600"/>
              </a:spcBef>
              <a:spcAft>
                <a:spcPts val="600"/>
              </a:spcAft>
              <a:buFont typeface="Wingdings" panose="05000000000000000000" pitchFamily="2" charset="2"/>
              <a:buChar char="§"/>
            </a:pPr>
            <a:r>
              <a:rPr lang="en-US" sz="1400" dirty="0"/>
              <a:t>With the financial support, we are confident we can create a robust, extensive, and superior alternative to Arduino that will help students learn the latest advances in embedded technology. </a:t>
            </a:r>
          </a:p>
          <a:p>
            <a:pPr marL="285750" indent="-285750" algn="just">
              <a:lnSpc>
                <a:spcPct val="130000"/>
              </a:lnSpc>
              <a:spcBef>
                <a:spcPts val="600"/>
              </a:spcBef>
              <a:spcAft>
                <a:spcPts val="600"/>
              </a:spcAft>
              <a:buFont typeface="Wingdings" panose="05000000000000000000" pitchFamily="2" charset="2"/>
              <a:buChar char="§"/>
            </a:pPr>
            <a:r>
              <a:rPr lang="en-US" sz="1400" dirty="0"/>
              <a:t>Also enable the development community to create hundreds of products and solutions with ease.</a:t>
            </a:r>
          </a:p>
          <a:p>
            <a:pPr marL="285750" indent="-285750" algn="just">
              <a:lnSpc>
                <a:spcPct val="130000"/>
              </a:lnSpc>
              <a:spcBef>
                <a:spcPts val="600"/>
              </a:spcBef>
              <a:spcAft>
                <a:spcPts val="600"/>
              </a:spcAft>
              <a:buFont typeface="Wingdings" panose="05000000000000000000" pitchFamily="2" charset="2"/>
              <a:buChar char="§"/>
            </a:pPr>
            <a:r>
              <a:rPr lang="en-US" sz="1400" dirty="0"/>
              <a:t>Webyfy also suggests Advayam as a tool to bridge the widening gap between academia and Industry in the field of electronics technology/applications/product development </a:t>
            </a:r>
            <a:endParaRPr lang="en-IN" sz="1400" dirty="0"/>
          </a:p>
        </p:txBody>
      </p:sp>
      <p:sp>
        <p:nvSpPr>
          <p:cNvPr id="13" name="TextBox 12">
            <a:extLst>
              <a:ext uri="{FF2B5EF4-FFF2-40B4-BE49-F238E27FC236}">
                <a16:creationId xmlns:a16="http://schemas.microsoft.com/office/drawing/2014/main" id="{8CF22AB3-69DE-847C-C49F-C52C2F3B5531}"/>
              </a:ext>
            </a:extLst>
          </p:cNvPr>
          <p:cNvSpPr txBox="1"/>
          <p:nvPr/>
        </p:nvSpPr>
        <p:spPr>
          <a:xfrm>
            <a:off x="2116328" y="5866504"/>
            <a:ext cx="7109853" cy="641971"/>
          </a:xfrm>
          <a:prstGeom prst="rect">
            <a:avLst/>
          </a:prstGeom>
          <a:noFill/>
          <a:ln>
            <a:solidFill>
              <a:schemeClr val="accent1"/>
            </a:solidFill>
          </a:ln>
        </p:spPr>
        <p:txBody>
          <a:bodyPr wrap="square">
            <a:spAutoFit/>
          </a:bodyPr>
          <a:lstStyle/>
          <a:p>
            <a:pPr algn="ctr">
              <a:lnSpc>
                <a:spcPct val="115000"/>
              </a:lnSpc>
              <a:spcBef>
                <a:spcPts val="1200"/>
              </a:spcBef>
              <a:spcAft>
                <a:spcPts val="1200"/>
              </a:spcAft>
              <a:buNone/>
            </a:pPr>
            <a:r>
              <a:rPr lang="en-US" sz="1600" b="1" dirty="0">
                <a:effectLst/>
                <a:latin typeface="Calibri" panose="020F0502020204030204" pitchFamily="34" charset="0"/>
                <a:ea typeface="SimSun" panose="02010600030101010101" pitchFamily="2" charset="-122"/>
                <a:cs typeface="Times New Roman" panose="02020603050405020304" pitchFamily="18" charset="0"/>
              </a:rPr>
              <a:t>Advayam is intended to be a platform for ingeniously developed microcontrollers </a:t>
            </a:r>
            <a:br>
              <a:rPr lang="en-US" sz="1600" b="1" dirty="0">
                <a:effectLst/>
                <a:latin typeface="Calibri" panose="020F0502020204030204" pitchFamily="34" charset="0"/>
                <a:ea typeface="SimSun" panose="02010600030101010101" pitchFamily="2" charset="-122"/>
                <a:cs typeface="Times New Roman" panose="02020603050405020304" pitchFamily="18" charset="0"/>
              </a:rPr>
            </a:br>
            <a:r>
              <a:rPr lang="en-US" sz="1600" b="1" dirty="0">
                <a:effectLst/>
                <a:latin typeface="Calibri" panose="020F0502020204030204" pitchFamily="34" charset="0"/>
                <a:ea typeface="SimSun" panose="02010600030101010101" pitchFamily="2" charset="-122"/>
                <a:cs typeface="Times New Roman" panose="02020603050405020304" pitchFamily="18" charset="0"/>
              </a:rPr>
              <a:t>using which they can prove their usefulness and reliability with little effort. </a:t>
            </a:r>
            <a:endParaRPr lang="en-IN" sz="16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89817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BC1F03-DFB1-4B3F-8A64-403EBF5FB3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708" y="1499123"/>
            <a:ext cx="2979539" cy="3900488"/>
          </a:xfrm>
          <a:prstGeom prst="rect">
            <a:avLst/>
          </a:prstGeom>
        </p:spPr>
      </p:pic>
      <p:sp>
        <p:nvSpPr>
          <p:cNvPr id="5" name="Text Box 4">
            <a:extLst>
              <a:ext uri="{FF2B5EF4-FFF2-40B4-BE49-F238E27FC236}">
                <a16:creationId xmlns:a16="http://schemas.microsoft.com/office/drawing/2014/main" id="{8F020320-3589-48CD-8FF8-1F0BEF7803F8}"/>
              </a:ext>
            </a:extLst>
          </p:cNvPr>
          <p:cNvSpPr txBox="1">
            <a:spLocks noChangeArrowheads="1"/>
          </p:cNvSpPr>
          <p:nvPr/>
        </p:nvSpPr>
        <p:spPr bwMode="auto">
          <a:xfrm>
            <a:off x="2497959" y="5399611"/>
            <a:ext cx="5093039" cy="594747"/>
          </a:xfrm>
          <a:prstGeom prst="rect">
            <a:avLst/>
          </a:prstGeom>
          <a:noFill/>
          <a:ln w="15875" algn="ctr">
            <a:noFill/>
            <a:miter lim="800000"/>
            <a:headEnd/>
            <a:tailEnd/>
          </a:ln>
          <a:effectLst/>
        </p:spPr>
        <p:txBody>
          <a:bodyPr wrap="square" lIns="31846" tIns="15923" rIns="31846" bIns="15923">
            <a:spAutoFit/>
          </a:bodyPr>
          <a:lstStyle>
            <a:defPPr>
              <a:defRPr lang="en-US"/>
            </a:defPPr>
            <a:lvl1pPr algn="ctr">
              <a:defRPr sz="1800" b="0">
                <a:latin typeface="Calibri" pitchFamily="34" charset="0"/>
                <a:cs typeface="Calibri" pitchFamily="34" charset="0"/>
              </a:defRPr>
            </a:lvl1pPr>
          </a:lstStyle>
          <a:p>
            <a:pPr>
              <a:spcBef>
                <a:spcPts val="365"/>
              </a:spcBef>
              <a:spcAft>
                <a:spcPts val="365"/>
              </a:spcAft>
            </a:pPr>
            <a:r>
              <a:rPr lang="en-US" sz="3656" dirty="0">
                <a:solidFill>
                  <a:schemeClr val="accent1">
                    <a:lumMod val="50000"/>
                  </a:schemeClr>
                </a:solidFill>
                <a:latin typeface="Segoe UI" panose="020B0502040204020203" pitchFamily="34" charset="0"/>
                <a:ea typeface="Segoe UI" panose="020B0502040204020203" pitchFamily="34" charset="0"/>
                <a:cs typeface="Segoe UI" panose="020B0502040204020203" pitchFamily="34" charset="0"/>
              </a:rPr>
              <a:t>Thank you </a:t>
            </a:r>
          </a:p>
        </p:txBody>
      </p:sp>
      <p:sp>
        <p:nvSpPr>
          <p:cNvPr id="2" name="Rectangle 1"/>
          <p:cNvSpPr/>
          <p:nvPr/>
        </p:nvSpPr>
        <p:spPr>
          <a:xfrm>
            <a:off x="2753550" y="224594"/>
            <a:ext cx="4655057" cy="1200329"/>
          </a:xfrm>
          <a:prstGeom prst="rect">
            <a:avLst/>
          </a:prstGeom>
        </p:spPr>
        <p:txBody>
          <a:bodyPr wrap="none">
            <a:spAutoFit/>
          </a:bodyPr>
          <a:lstStyle/>
          <a:p>
            <a:r>
              <a:rPr lang="en-IN" sz="3600" dirty="0">
                <a:hlinkClick r:id="rId5"/>
              </a:rPr>
              <a:t>https://iot.webyfy.com/</a:t>
            </a:r>
            <a:endParaRPr lang="en-IN" sz="3600" dirty="0"/>
          </a:p>
          <a:p>
            <a:endParaRPr lang="en-IN" sz="3600" dirty="0"/>
          </a:p>
        </p:txBody>
      </p:sp>
      <p:pic>
        <p:nvPicPr>
          <p:cNvPr id="6" name="Recorded Soun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84376" y="6248400"/>
            <a:ext cx="609600" cy="609600"/>
          </a:xfrm>
          <a:prstGeom prst="rect">
            <a:avLst/>
          </a:prstGeom>
        </p:spPr>
      </p:pic>
    </p:spTree>
    <p:extLst>
      <p:ext uri="{BB962C8B-B14F-4D97-AF65-F5344CB8AC3E}">
        <p14:creationId xmlns:p14="http://schemas.microsoft.com/office/powerpoint/2010/main" val="3817544650"/>
      </p:ext>
    </p:extLst>
  </p:cSld>
  <p:clrMapOvr>
    <a:masterClrMapping/>
  </p:clrMapOvr>
  <mc:AlternateContent xmlns:mc="http://schemas.openxmlformats.org/markup-compatibility/2006" xmlns:p14="http://schemas.microsoft.com/office/powerpoint/2010/main">
    <mc:Choice Requires="p14">
      <p:transition p14:dur="100" advClick="0" advTm="4000">
        <p:cut/>
      </p:transition>
    </mc:Choice>
    <mc:Fallback xmlns="">
      <p:transition advClick="0" advTm="4000">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3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17381</TotalTime>
  <Words>2314</Words>
  <Application>Microsoft Office PowerPoint</Application>
  <PresentationFormat>A4 Paper (210x297 mm)</PresentationFormat>
  <Paragraphs>410</Paragraphs>
  <Slides>17</Slides>
  <Notes>0</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Calibri Light</vt:lpstr>
      <vt:lpstr>Montserrat</vt:lpstr>
      <vt:lpstr>Segoe UI</vt:lpstr>
      <vt:lpstr>Times New Roman</vt:lpstr>
      <vt:lpstr>Times New Roman Bold</vt:lpstr>
      <vt:lpstr>Times New Roman Ultra-Bold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Rajaram venkataraman</dc:creator>
  <cp:lastModifiedBy>Vijay Kumar</cp:lastModifiedBy>
  <cp:revision>258</cp:revision>
  <dcterms:created xsi:type="dcterms:W3CDTF">2017-10-04T09:17:44Z</dcterms:created>
  <dcterms:modified xsi:type="dcterms:W3CDTF">2026-08-13T02:57:10Z</dcterms:modified>
</cp:coreProperties>
</file>